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Barlow"/>
      <p:regular r:id="rId201314"/>
    </p:embeddedFont>
    <p:embeddedFont>
      <p:font typeface="Barlow Bold"/>
      <p:regular r:id="rId201315"/>
    </p:embeddedFont>
    <p:embeddedFont>
      <p:font typeface="Spline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5-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6-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A081B">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A081B">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p:cNvPr>
          <p:cNvPicPr>
            <a:picLocks noChangeAspect="1"/>
          </p:cNvPicPr>
          <p:nvPr/>
        </p:nvPicPr>
        <p:blipFill>
          <a:blip r:embed="rId2"/>
          <a:stretch>
            <a:fillRect/>
          </a:stretch>
        </p:blipFill>
        <p:spPr>
          <a:xfrm>
            <a:off x="0" y="0"/>
            <a:ext cx="12191695" cy="6859290"/>
          </a:xfrm>
          <a:prstGeom prst="rect">
            <a:avLst/>
          </a:prstGeom>
        </p:spPr>
      </p:pic>
      <p:sp>
        <p:nvSpPr>
          <p:cNvPr id="5" name="Shape 1"/>
          <p:cNvSpPr/>
          <p:nvPr/>
        </p:nvSpPr>
        <p:spPr>
          <a:xfrm>
            <a:off x="0" y="0"/>
            <a:ext cx="12191695" cy="6859290"/>
          </a:xfrm>
          <a:prstGeom prst="rect">
            <a:avLst/>
          </a:prstGeom>
          <a:solidFill>
            <a:srgbClr val="0A081B">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0A081B">
              <a:alpha val="80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kosuriraghavendravarma/PSTJ-Expo-1.git"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4200" y="1635576"/>
            <a:ext cx="10723294" cy="582712"/>
          </a:xfrm>
          <a:prstGeom prst="rect">
            <a:avLst/>
          </a:prstGeom>
          <a:noFill/>
          <a:ln/>
        </p:spPr>
        <p:txBody>
          <a:bodyPr wrap="none" lIns="0" tIns="0" rIns="0" bIns="0" rtlCol="0" anchor="t"/>
          <a:lstStyle/>
          <a:p>
            <a:pPr algn="l" indent="0" marL="0">
              <a:lnSpc>
                <a:spcPct val="104000"/>
              </a:lnSpc>
              <a:buNone/>
            </a:pPr>
            <a:r>
              <a:rPr lang="en-US" sz="3650" b="1" dirty="0">
                <a:solidFill>
                  <a:srgbClr val="F0FCFF"/>
                </a:solidFill>
                <a:latin typeface="Spline Sans Bold" pitchFamily="34" charset="0"/>
                <a:ea typeface="Spline Sans Bold" pitchFamily="34" charset="-122"/>
                <a:cs typeface="Spline Sans Bold" pitchFamily="34" charset="-120"/>
              </a:rPr>
              <a:t>Personal Fitness &amp; Workout Tracker</a:t>
            </a:r>
            <a:endParaRPr lang="en-US" sz="3650" dirty="0"/>
          </a:p>
        </p:txBody>
      </p:sp>
      <p:sp>
        <p:nvSpPr>
          <p:cNvPr id="3" name="Text 1"/>
          <p:cNvSpPr/>
          <p:nvPr/>
        </p:nvSpPr>
        <p:spPr>
          <a:xfrm>
            <a:off x="734200" y="2507159"/>
            <a:ext cx="11332879" cy="335756"/>
          </a:xfrm>
          <a:prstGeom prst="rect">
            <a:avLst/>
          </a:prstGeom>
          <a:noFill/>
          <a:ln/>
        </p:spPr>
        <p:txBody>
          <a:bodyPr wrap="none" lIns="0" tIns="0" rIns="0" bIns="0" rtlCol="0" anchor="t"/>
          <a:lstStyle/>
          <a:p>
            <a:pPr algn="l" indent="0" marL="0">
              <a:lnSpc>
                <a:spcPct val="133000"/>
              </a:lnSpc>
              <a:buNone/>
            </a:pPr>
            <a:r>
              <a:rPr lang="en-US" sz="1650" b="1" dirty="0">
                <a:solidFill>
                  <a:srgbClr val="E0E4E6"/>
                </a:solidFill>
                <a:latin typeface="Barlow Bold" pitchFamily="34" charset="0"/>
                <a:ea typeface="Barlow Bold" pitchFamily="34" charset="-122"/>
                <a:cs typeface="Barlow Bold" pitchFamily="34" charset="-120"/>
              </a:rPr>
              <a:t>A Java-Based Fitness Management Application</a:t>
            </a:r>
            <a:endParaRPr lang="en-US" sz="1650" dirty="0"/>
          </a:p>
        </p:txBody>
      </p:sp>
      <p:sp>
        <p:nvSpPr>
          <p:cNvPr id="4" name="Shape 2"/>
          <p:cNvSpPr/>
          <p:nvPr/>
        </p:nvSpPr>
        <p:spPr>
          <a:xfrm>
            <a:off x="583193" y="3078857"/>
            <a:ext cx="5407783" cy="2169220"/>
          </a:xfrm>
          <a:prstGeom prst="roundRect">
            <a:avLst>
              <a:gd name="adj" fmla="val 23212"/>
            </a:avLst>
          </a:prstGeom>
          <a:solidFill>
            <a:srgbClr val="001F3F">
              <a:alpha val="75000"/>
            </a:srgbClr>
          </a:solidFill>
          <a:ln/>
        </p:spPr>
      </p:sp>
      <p:sp>
        <p:nvSpPr>
          <p:cNvPr id="5" name="Text 3"/>
          <p:cNvSpPr/>
          <p:nvPr/>
        </p:nvSpPr>
        <p:spPr>
          <a:xfrm>
            <a:off x="792936" y="3298307"/>
            <a:ext cx="4988296"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Presented By</a:t>
            </a:r>
            <a:endParaRPr lang="en-US" sz="1800" dirty="0"/>
          </a:p>
        </p:txBody>
      </p:sp>
      <p:sp>
        <p:nvSpPr>
          <p:cNvPr id="6" name="Text 4"/>
          <p:cNvSpPr/>
          <p:nvPr/>
        </p:nvSpPr>
        <p:spPr>
          <a:xfrm>
            <a:off x="792936" y="3789759"/>
            <a:ext cx="4988296" cy="1154112"/>
          </a:xfrm>
          <a:prstGeom prst="rect">
            <a:avLst/>
          </a:prstGeom>
          <a:noFill/>
          <a:ln/>
        </p:spPr>
        <p:txBody>
          <a:bodyPr wrap="square" lIns="0" tIns="0" rIns="0" bIns="0" rtlCol="0" anchor="t">
            <a:normAutofit/>
          </a:bodyPr>
          <a:lstStyle/>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S. Meghana — Roll No. 2620030645</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K. Raghavendra Varma — Roll No. 2620030549</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P. Pranathi — Roll No. 2620030670</a:t>
            </a:r>
            <a:endParaRPr lang="en-US" sz="1650" dirty="0"/>
          </a:p>
        </p:txBody>
      </p:sp>
      <p:sp>
        <p:nvSpPr>
          <p:cNvPr id="7" name="Text 5"/>
          <p:cNvSpPr/>
          <p:nvPr/>
        </p:nvSpPr>
        <p:spPr>
          <a:xfrm>
            <a:off x="6358076" y="3298307"/>
            <a:ext cx="5105768"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Project Details</a:t>
            </a:r>
            <a:endParaRPr lang="en-US" sz="1800" dirty="0"/>
          </a:p>
        </p:txBody>
      </p:sp>
      <p:sp>
        <p:nvSpPr>
          <p:cNvPr id="8" name="Text 6"/>
          <p:cNvSpPr/>
          <p:nvPr/>
        </p:nvSpPr>
        <p:spPr>
          <a:xfrm>
            <a:off x="6358076" y="3789759"/>
            <a:ext cx="5105768" cy="744934"/>
          </a:xfrm>
          <a:prstGeom prst="rect">
            <a:avLst/>
          </a:prstGeom>
          <a:noFill/>
          <a:ln/>
        </p:spPr>
        <p:txBody>
          <a:bodyPr wrap="square" lIns="0" tIns="0" rIns="0" bIns="0" rtlCol="0" anchor="t">
            <a:normAutofit/>
          </a:bodyPr>
          <a:lstStyle/>
          <a:p>
            <a:pPr algn="l" marL="335280" indent="-335280">
              <a:lnSpc>
                <a:spcPct val="133000"/>
              </a:lnSpc>
              <a:buSzPct val="100000"/>
              <a:buChar char="•"/>
            </a:pPr>
            <a:r>
              <a:rPr lang="en-US" sz="1650" b="1" dirty="0">
                <a:solidFill>
                  <a:srgbClr val="E0E4E6"/>
                </a:solidFill>
                <a:latin typeface="Barlow Bold" pitchFamily="34" charset="0"/>
                <a:ea typeface="Barlow Bold" pitchFamily="34" charset="-122"/>
                <a:cs typeface="Barlow Bold" pitchFamily="34" charset="-120"/>
              </a:rPr>
              <a:t>Department:</a:t>
            </a:r>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 CSE</a:t>
            </a:r>
            <a:endParaRPr lang="en-US" sz="1650" dirty="0"/>
          </a:p>
          <a:p>
            <a:pPr algn="l" marL="335280" indent="-335280">
              <a:lnSpc>
                <a:spcPct val="133000"/>
              </a:lnSpc>
              <a:buSzPct val="100000"/>
              <a:buChar char="•"/>
            </a:pPr>
            <a:r>
              <a:rPr lang="en-US" sz="1650" b="1" dirty="0">
                <a:solidFill>
                  <a:srgbClr val="E0E4E6"/>
                </a:solidFill>
                <a:latin typeface="Barlow Bold" pitchFamily="34" charset="0"/>
                <a:ea typeface="Barlow Bold" pitchFamily="34" charset="-122"/>
                <a:cs typeface="Barlow Bold" pitchFamily="34" charset="-120"/>
              </a:rPr>
              <a:t>Faculty Guide:</a:t>
            </a:r>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 G.Mamatha</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4200" y="1015062"/>
            <a:ext cx="10723294" cy="582712"/>
          </a:xfrm>
          <a:prstGeom prst="rect">
            <a:avLst/>
          </a:prstGeom>
          <a:noFill/>
          <a:ln/>
        </p:spPr>
        <p:txBody>
          <a:bodyPr wrap="none" lIns="0" tIns="0" rIns="0" bIns="0" rtlCol="0" anchor="t"/>
          <a:lstStyle/>
          <a:p>
            <a:pPr algn="l" indent="0" marL="0">
              <a:lnSpc>
                <a:spcPct val="104000"/>
              </a:lnSpc>
              <a:buNone/>
            </a:pPr>
            <a:r>
              <a:rPr lang="en-US" sz="3650" b="1" dirty="0">
                <a:solidFill>
                  <a:srgbClr val="F0FCFF"/>
                </a:solidFill>
                <a:latin typeface="Spline Sans Bold" pitchFamily="34" charset="0"/>
                <a:ea typeface="Spline Sans Bold" pitchFamily="34" charset="-122"/>
                <a:cs typeface="Spline Sans Bold" pitchFamily="34" charset="-120"/>
              </a:rPr>
              <a:t>Abstract</a:t>
            </a:r>
            <a:endParaRPr lang="en-US" sz="3650" dirty="0"/>
          </a:p>
        </p:txBody>
      </p:sp>
      <p:sp>
        <p:nvSpPr>
          <p:cNvPr id="3" name="Text 1"/>
          <p:cNvSpPr/>
          <p:nvPr/>
        </p:nvSpPr>
        <p:spPr>
          <a:xfrm>
            <a:off x="734200" y="1665563"/>
            <a:ext cx="10723294"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Problem &amp; Objective</a:t>
            </a:r>
            <a:endParaRPr lang="en-US" sz="1800" dirty="0"/>
          </a:p>
        </p:txBody>
      </p:sp>
      <p:sp>
        <p:nvSpPr>
          <p:cNvPr id="4" name="Text 2"/>
          <p:cNvSpPr/>
          <p:nvPr/>
        </p:nvSpPr>
        <p:spPr>
          <a:xfrm>
            <a:off x="734200" y="2261890"/>
            <a:ext cx="10723294" cy="2014538"/>
          </a:xfrm>
          <a:prstGeom prst="rect">
            <a:avLst/>
          </a:prstGeom>
          <a:noFill/>
          <a:ln/>
        </p:spPr>
        <p:txBody>
          <a:bodyPr wrap="square" lIns="0" tIns="0" rIns="0" bIns="0" rtlCol="0" anchor="t">
            <a:normAutofit/>
          </a:bodyPr>
          <a:lstStyle/>
          <a:p>
            <a:pPr algn="l" indent="0" marL="0">
              <a:lnSpc>
                <a:spcPct val="133000"/>
              </a:lnSpc>
              <a:buNone/>
            </a:pPr>
            <a:r>
              <a:rPr lang="en-US" sz="1650" dirty="0">
                <a:solidFill>
                  <a:srgbClr val="E0E4E6"/>
                </a:solidFill>
                <a:latin typeface="Barlow" pitchFamily="34" charset="0"/>
                <a:ea typeface="Barlow" pitchFamily="34" charset="-122"/>
                <a:cs typeface="Barlow" pitchFamily="34" charset="-120"/>
              </a:rPr>
              <a:t>Tracking workouts by hand is slow and easy to get wrong. This makes it hard to track progress and keep records. This project is a Java-based Personal Fitness &amp; Workout Tracker. It records each workout's exercise name, duration, and calories burned. The program uses Java concepts to calculate total duration and total calories. Users can search by exercise name and sort by duration. Workout data is saved to and loaded from workouts.txt, so progress is kept between sessions. The app creates a fitness summary using the Streams API. A menu with input checks helps prevent wrong entries.</a:t>
            </a:r>
            <a:endParaRPr lang="en-US" sz="1650" dirty="0"/>
          </a:p>
        </p:txBody>
      </p:sp>
      <p:sp>
        <p:nvSpPr>
          <p:cNvPr id="5" name="Text 3"/>
          <p:cNvSpPr/>
          <p:nvPr/>
        </p:nvSpPr>
        <p:spPr>
          <a:xfrm>
            <a:off x="734200" y="4600751"/>
            <a:ext cx="10723294"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Technology Stack</a:t>
            </a:r>
            <a:endParaRPr lang="en-US" sz="1800" dirty="0"/>
          </a:p>
        </p:txBody>
      </p:sp>
      <p:sp>
        <p:nvSpPr>
          <p:cNvPr id="6" name="Text 4"/>
          <p:cNvSpPr/>
          <p:nvPr/>
        </p:nvSpPr>
        <p:spPr>
          <a:xfrm>
            <a:off x="734200" y="5197078"/>
            <a:ext cx="10723294" cy="671513"/>
          </a:xfrm>
          <a:prstGeom prst="rect">
            <a:avLst/>
          </a:prstGeom>
          <a:noFill/>
          <a:ln/>
        </p:spPr>
        <p:txBody>
          <a:bodyPr wrap="square" lIns="0" tIns="0" rIns="0" bIns="0" rtlCol="0" anchor="t">
            <a:normAutofit/>
          </a:bodyPr>
          <a:lstStyle/>
          <a:p>
            <a:pPr algn="l" indent="0" marL="0">
              <a:lnSpc>
                <a:spcPct val="133000"/>
              </a:lnSpc>
              <a:buNone/>
            </a:pPr>
            <a:r>
              <a:rPr lang="en-US" sz="1650" dirty="0">
                <a:solidFill>
                  <a:srgbClr val="E0E4E6"/>
                </a:solidFill>
                <a:latin typeface="Barlow" pitchFamily="34" charset="0"/>
                <a:ea typeface="Barlow" pitchFamily="34" charset="-122"/>
                <a:cs typeface="Barlow" pitchFamily="34" charset="-120"/>
              </a:rPr>
              <a:t>Java 8+, Collections Framework (ArrayList), Streams API, File I/O ( BufferedReader / PrintWriter), and Object-Oriented Design</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4200" y="607739"/>
            <a:ext cx="10723294" cy="360958"/>
          </a:xfrm>
          <a:prstGeom prst="rect">
            <a:avLst/>
          </a:prstGeom>
          <a:noFill/>
          <a:ln/>
        </p:spPr>
        <p:txBody>
          <a:bodyPr wrap="none" lIns="0" tIns="0" rIns="0" bIns="0" rtlCol="0" anchor="t"/>
          <a:lstStyle/>
          <a:p>
            <a:pPr algn="l" indent="0" marL="0">
              <a:lnSpc>
                <a:spcPct val="104000"/>
              </a:lnSpc>
              <a:buNone/>
            </a:pPr>
            <a:r>
              <a:rPr lang="en-US" sz="2250" b="1" dirty="0">
                <a:solidFill>
                  <a:srgbClr val="F0FCFF"/>
                </a:solidFill>
                <a:latin typeface="Spline Sans Bold" pitchFamily="34" charset="0"/>
                <a:ea typeface="Spline Sans Bold" pitchFamily="34" charset="-122"/>
                <a:cs typeface="Spline Sans Bold" pitchFamily="34" charset="-120"/>
              </a:rPr>
              <a:t>CO1 / Module 1: Java Foundations</a:t>
            </a:r>
            <a:endParaRPr lang="en-US" sz="2250" dirty="0"/>
          </a:p>
        </p:txBody>
      </p:sp>
      <p:sp>
        <p:nvSpPr>
          <p:cNvPr id="3" name="Shape 1"/>
          <p:cNvSpPr/>
          <p:nvPr/>
        </p:nvSpPr>
        <p:spPr>
          <a:xfrm>
            <a:off x="734200" y="1115219"/>
            <a:ext cx="1663559" cy="197545"/>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812184" y="1161951"/>
            <a:ext cx="103979" cy="103981"/>
          </a:xfrm>
          <a:prstGeom prst="rect">
            <a:avLst/>
          </a:prstGeom>
        </p:spPr>
      </p:pic>
      <p:sp>
        <p:nvSpPr>
          <p:cNvPr id="5" name="Text 2"/>
          <p:cNvSpPr/>
          <p:nvPr/>
        </p:nvSpPr>
        <p:spPr>
          <a:xfrm>
            <a:off x="968152" y="1155398"/>
            <a:ext cx="1961208" cy="119559"/>
          </a:xfrm>
          <a:prstGeom prst="rect">
            <a:avLst/>
          </a:prstGeom>
          <a:noFill/>
          <a:ln/>
        </p:spPr>
        <p:txBody>
          <a:bodyPr wrap="none" lIns="0" tIns="0" rIns="0" bIns="0" rtlCol="0" anchor="t"/>
          <a:lstStyle/>
          <a:p>
            <a:pPr algn="l" indent="0" marL="0">
              <a:lnSpc>
                <a:spcPct val="96000"/>
              </a:lnSpc>
              <a:buNone/>
            </a:pPr>
            <a:r>
              <a:rPr lang="en-US" sz="800" dirty="0">
                <a:solidFill>
                  <a:srgbClr val="E0E4E6"/>
                </a:solidFill>
                <a:latin typeface="Barlow" pitchFamily="34" charset="0"/>
                <a:ea typeface="Barlow" pitchFamily="34" charset="-122"/>
                <a:cs typeface="Barlow" pitchFamily="34" charset="-120"/>
              </a:rPr>
              <a:t>FROM PROBLEM TO PROGRAM</a:t>
            </a:r>
            <a:endParaRPr lang="en-US" sz="800" dirty="0"/>
          </a:p>
        </p:txBody>
      </p:sp>
      <p:sp>
        <p:nvSpPr>
          <p:cNvPr id="6" name="Text 3"/>
          <p:cNvSpPr/>
          <p:nvPr/>
        </p:nvSpPr>
        <p:spPr>
          <a:xfrm>
            <a:off x="734200" y="1492659"/>
            <a:ext cx="5203100" cy="180578"/>
          </a:xfrm>
          <a:prstGeom prst="rect">
            <a:avLst/>
          </a:prstGeom>
          <a:noFill/>
          <a:ln/>
        </p:spPr>
        <p:txBody>
          <a:bodyPr wrap="none" lIns="0" tIns="0" rIns="0" bIns="0" rtlCol="0" anchor="t"/>
          <a:lstStyle/>
          <a:p>
            <a:pPr algn="l" indent="0" marL="0">
              <a:lnSpc>
                <a:spcPct val="104000"/>
              </a:lnSpc>
              <a:buNone/>
            </a:pPr>
            <a:r>
              <a:rPr lang="en-US" sz="1100" b="1" dirty="0">
                <a:solidFill>
                  <a:srgbClr val="F0FCFF"/>
                </a:solidFill>
                <a:latin typeface="Spline Sans Bold" pitchFamily="34" charset="0"/>
                <a:ea typeface="Spline Sans Bold" pitchFamily="34" charset="-122"/>
                <a:cs typeface="Spline Sans Bold" pitchFamily="34" charset="-120"/>
              </a:rPr>
              <a:t>Key Concepts</a:t>
            </a:r>
            <a:endParaRPr lang="en-US" sz="1100" dirty="0"/>
          </a:p>
        </p:txBody>
      </p:sp>
      <p:sp>
        <p:nvSpPr>
          <p:cNvPr id="7" name="Text 4"/>
          <p:cNvSpPr/>
          <p:nvPr/>
        </p:nvSpPr>
        <p:spPr>
          <a:xfrm>
            <a:off x="734200" y="1744861"/>
            <a:ext cx="5203100" cy="954584"/>
          </a:xfrm>
          <a:prstGeom prst="rect">
            <a:avLst/>
          </a:prstGeom>
          <a:noFill/>
          <a:ln/>
        </p:spPr>
        <p:txBody>
          <a:bodyPr wrap="square" lIns="0" tIns="0" rIns="0" bIns="0" rtlCol="0" anchor="t">
            <a:normAutofit/>
          </a:bodyPr>
          <a:lstStyle/>
          <a:p>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Variables, constants, primitive data types</a:t>
            </a:r>
            <a:endParaRPr lang="en-US" sz="1000" dirty="0"/>
          </a:p>
          <a:p>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Identifiers, literals, arithmetic &amp; assignment operators</a:t>
            </a:r>
            <a:endParaRPr lang="en-US" sz="1000" dirty="0"/>
          </a:p>
          <a:p>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Type conversion and expression evaluation</a:t>
            </a:r>
            <a:endParaRPr lang="en-US" sz="1000" dirty="0"/>
          </a:p>
          <a:p>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Scanner for input, formatted output with </a:t>
            </a:r>
            <a:pPr algn="l" marL="203200" indent="-203200">
              <a:lnSpc>
                <a:spcPct val="108000"/>
              </a:lnSpc>
              <a:buSzPct val="100000"/>
              <a:buChar char="•"/>
            </a:pPr>
            <a:r>
              <a:rPr lang="en-US" sz="1000" dirty="0">
                <a:solidFill>
                  <a:srgbClr val="E0E4E6"/>
                </a:solidFill>
                <a:highlight>
                  <a:srgbClr val="171528"/>
                </a:highlight>
                <a:latin typeface="Consolas" pitchFamily="34" charset="0"/>
                <a:ea typeface="Consolas" pitchFamily="34" charset="-122"/>
                <a:cs typeface="Consolas" pitchFamily="34" charset="-120"/>
              </a:rPr>
              <a:t>System.out.println()</a:t>
            </a:r>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 and </a:t>
            </a:r>
            <a:pPr algn="l" marL="203200" indent="-203200">
              <a:lnSpc>
                <a:spcPct val="108000"/>
              </a:lnSpc>
              <a:buSzPct val="100000"/>
              <a:buChar char="•"/>
            </a:pPr>
            <a:r>
              <a:rPr lang="en-US" sz="1000" dirty="0">
                <a:solidFill>
                  <a:srgbClr val="E0E4E6"/>
                </a:solidFill>
                <a:highlight>
                  <a:srgbClr val="171528"/>
                </a:highlight>
                <a:latin typeface="Consolas" pitchFamily="34" charset="0"/>
                <a:ea typeface="Consolas" pitchFamily="34" charset="-122"/>
                <a:cs typeface="Consolas" pitchFamily="34" charset="-120"/>
              </a:rPr>
              <a:t>printf()</a:t>
            </a:r>
            <a:endParaRPr lang="en-US" sz="1000" dirty="0"/>
          </a:p>
          <a:p>
            <a:pPr algn="l" marL="203200" indent="-203200">
              <a:lnSpc>
                <a:spcPct val="108000"/>
              </a:lnSpc>
              <a:buSzPct val="100000"/>
              <a:buChar char="•"/>
            </a:pPr>
            <a:r>
              <a:rPr lang="en-US" sz="1000" dirty="0">
                <a:solidFill>
                  <a:srgbClr val="E0E4E6"/>
                </a:solidFill>
                <a:latin typeface="Barlow" pitchFamily="34" charset="0"/>
                <a:ea typeface="Barlow" pitchFamily="34" charset="-122"/>
                <a:cs typeface="Barlow" pitchFamily="34" charset="-120"/>
              </a:rPr>
              <a:t>Sequential execution flow</a:t>
            </a:r>
            <a:endParaRPr lang="en-US" sz="1000" dirty="0"/>
          </a:p>
        </p:txBody>
      </p:sp>
      <p:sp>
        <p:nvSpPr>
          <p:cNvPr id="8" name="Text 5"/>
          <p:cNvSpPr/>
          <p:nvPr/>
        </p:nvSpPr>
        <p:spPr>
          <a:xfrm>
            <a:off x="734200" y="2788754"/>
            <a:ext cx="5203100" cy="180578"/>
          </a:xfrm>
          <a:prstGeom prst="rect">
            <a:avLst/>
          </a:prstGeom>
          <a:noFill/>
          <a:ln/>
        </p:spPr>
        <p:txBody>
          <a:bodyPr wrap="none" lIns="0" tIns="0" rIns="0" bIns="0" rtlCol="0" anchor="t"/>
          <a:lstStyle/>
          <a:p>
            <a:pPr algn="l" indent="0" marL="0">
              <a:lnSpc>
                <a:spcPct val="104000"/>
              </a:lnSpc>
              <a:buNone/>
            </a:pPr>
            <a:r>
              <a:rPr lang="en-US" sz="1100" b="1" dirty="0">
                <a:solidFill>
                  <a:srgbClr val="F0FCFF"/>
                </a:solidFill>
                <a:latin typeface="Spline Sans Bold" pitchFamily="34" charset="0"/>
                <a:ea typeface="Spline Sans Bold" pitchFamily="34" charset="-122"/>
                <a:cs typeface="Spline Sans Bold" pitchFamily="34" charset="-120"/>
              </a:rPr>
              <a:t>Sample Output</a:t>
            </a:r>
            <a:endParaRPr lang="en-US" sz="1100" dirty="0"/>
          </a:p>
        </p:txBody>
      </p:sp>
      <p:sp>
        <p:nvSpPr>
          <p:cNvPr id="9" name="Shape 6"/>
          <p:cNvSpPr/>
          <p:nvPr/>
        </p:nvSpPr>
        <p:spPr>
          <a:xfrm>
            <a:off x="734200" y="3051076"/>
            <a:ext cx="5203100" cy="2547541"/>
          </a:xfrm>
          <a:prstGeom prst="roundRect">
            <a:avLst>
              <a:gd name="adj" fmla="val 7653"/>
            </a:avLst>
          </a:prstGeom>
          <a:solidFill>
            <a:srgbClr val="171528"/>
          </a:solidFill>
          <a:ln/>
        </p:spPr>
      </p:sp>
      <p:sp>
        <p:nvSpPr>
          <p:cNvPr id="10" name="Text 7"/>
          <p:cNvSpPr/>
          <p:nvPr/>
        </p:nvSpPr>
        <p:spPr>
          <a:xfrm>
            <a:off x="890168" y="3181052"/>
            <a:ext cx="4891164" cy="228758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PERSONAL FITNESS TRACKER — CO1</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Enter your name: Rahul</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Enter exercise name: Running</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Enter duration in minutes: 30</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Enter calories burned: 250</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Workout Summary</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User: Rahul</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Exercise: Running</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Duration: 30 minutes</a:t>
            </a:r>
            <a:endParaRPr lang="en-US" sz="1000" dirty="0"/>
          </a:p>
          <a:p>
            <a:pPr algn="l" indent="0" marL="0">
              <a:lnSpc>
                <a:spcPct val="133000"/>
              </a:lnSpc>
              <a:buNone/>
            </a:pPr>
            <a:r>
              <a:rPr lang="en-US" sz="1000" dirty="0">
                <a:solidFill>
                  <a:srgbClr val="A5D6FF"/>
                </a:solidFill>
                <a:latin typeface="Consolas" pitchFamily="34" charset="0"/>
                <a:ea typeface="Consolas" pitchFamily="34" charset="-122"/>
                <a:cs typeface="Consolas" pitchFamily="34" charset="-120"/>
              </a:rPr>
              <a:t>Calories burned: 250 kcal</a:t>
            </a:r>
            <a:endParaRPr lang="en-US" sz="1000" dirty="0"/>
          </a:p>
        </p:txBody>
      </p:sp>
      <p:sp>
        <p:nvSpPr>
          <p:cNvPr id="11" name="Text 8"/>
          <p:cNvSpPr/>
          <p:nvPr/>
        </p:nvSpPr>
        <p:spPr>
          <a:xfrm>
            <a:off x="6260745" y="1492659"/>
            <a:ext cx="5203100" cy="180578"/>
          </a:xfrm>
          <a:prstGeom prst="rect">
            <a:avLst/>
          </a:prstGeom>
          <a:noFill/>
          <a:ln/>
        </p:spPr>
        <p:txBody>
          <a:bodyPr wrap="none" lIns="0" tIns="0" rIns="0" bIns="0" rtlCol="0" anchor="t"/>
          <a:lstStyle/>
          <a:p>
            <a:pPr algn="l" indent="0" marL="0">
              <a:lnSpc>
                <a:spcPct val="104000"/>
              </a:lnSpc>
              <a:buNone/>
            </a:pPr>
            <a:r>
              <a:rPr lang="en-US" sz="1100" b="1" dirty="0">
                <a:solidFill>
                  <a:srgbClr val="F0FCFF"/>
                </a:solidFill>
                <a:latin typeface="Spline Sans Bold" pitchFamily="34" charset="0"/>
                <a:ea typeface="Spline Sans Bold" pitchFamily="34" charset="-122"/>
                <a:cs typeface="Spline Sans Bold" pitchFamily="34" charset="-120"/>
              </a:rPr>
              <a:t>Program: Basic Workout Summary</a:t>
            </a:r>
            <a:endParaRPr lang="en-US" sz="1100" dirty="0"/>
          </a:p>
        </p:txBody>
      </p:sp>
      <p:sp>
        <p:nvSpPr>
          <p:cNvPr id="12" name="Shape 9"/>
          <p:cNvSpPr/>
          <p:nvPr/>
        </p:nvSpPr>
        <p:spPr>
          <a:xfrm>
            <a:off x="6260745" y="1754981"/>
            <a:ext cx="5203100" cy="4419203"/>
          </a:xfrm>
          <a:prstGeom prst="roundRect">
            <a:avLst>
              <a:gd name="adj" fmla="val 4412"/>
            </a:avLst>
          </a:prstGeom>
          <a:solidFill>
            <a:srgbClr val="171528"/>
          </a:solidFill>
          <a:ln/>
        </p:spPr>
      </p:sp>
      <p:sp>
        <p:nvSpPr>
          <p:cNvPr id="13" name="Text 10"/>
          <p:cNvSpPr/>
          <p:nvPr/>
        </p:nvSpPr>
        <p:spPr>
          <a:xfrm>
            <a:off x="6416713" y="1884958"/>
            <a:ext cx="4891164" cy="4159250"/>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Scanner sc = new Scanner(System.in);</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System.out.print("Enter your name: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String name = sc.nextLine();</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System.out.print("Enter exercise name: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String exercise = sc.nextLine();</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System.out.print("Enter duration (min):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int duration = sc.nextInt();</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System.out.print("Enter calories burned: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int calories = sc.nextInt();</a:t>
            </a:r>
            <a:endParaRPr lang="en-US" sz="1000" dirty="0"/>
          </a:p>
          <a:p>
            <a:pPr algn="l" indent="0" marL="0">
              <a:lnSpc>
                <a:spcPct val="133000"/>
              </a:lnSpc>
              <a:buNone/>
            </a:pP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System.out.println("\nWorkout Summary");</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System.out.println("User: " + name);</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System.out.println("Exercise: " + exercise);</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System.out.println("Duration: " + duration</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 " minutes");</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System.out.println("Calories burned: "</a:t>
            </a:r>
            <a:endParaRPr lang="en-US" sz="1000" dirty="0"/>
          </a:p>
          <a:p>
            <a:pPr algn="l" indent="0" marL="0">
              <a:lnSpc>
                <a:spcPct val="133000"/>
              </a:lnSpc>
              <a:buNone/>
            </a:pPr>
            <a:r>
              <a:rPr lang="en-US" sz="1000" dirty="0">
                <a:solidFill>
                  <a:srgbClr val="E6EDF3"/>
                </a:solidFill>
                <a:latin typeface="Consolas" pitchFamily="34" charset="0"/>
                <a:ea typeface="Consolas" pitchFamily="34" charset="-122"/>
                <a:cs typeface="Consolas" pitchFamily="34" charset="-120"/>
              </a:rPr>
              <a:t> + calories + " kcal");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4200" y="643166"/>
            <a:ext cx="10723294" cy="295870"/>
          </a:xfrm>
          <a:prstGeom prst="rect">
            <a:avLst/>
          </a:prstGeom>
          <a:noFill/>
          <a:ln/>
        </p:spPr>
        <p:txBody>
          <a:bodyPr wrap="none" lIns="0" tIns="0" rIns="0" bIns="0" rtlCol="0" anchor="t"/>
          <a:lstStyle/>
          <a:p>
            <a:pPr algn="l" indent="0" marL="0">
              <a:lnSpc>
                <a:spcPct val="104000"/>
              </a:lnSpc>
              <a:buNone/>
            </a:pPr>
            <a:r>
              <a:rPr lang="en-US" sz="1850" b="1" dirty="0">
                <a:solidFill>
                  <a:srgbClr val="F0FCFF"/>
                </a:solidFill>
                <a:latin typeface="Spline Sans Bold" pitchFamily="34" charset="0"/>
                <a:ea typeface="Spline Sans Bold" pitchFamily="34" charset="-122"/>
                <a:cs typeface="Spline Sans Bold" pitchFamily="34" charset="-120"/>
              </a:rPr>
              <a:t>CO2 / Module 2: Control Flow</a:t>
            </a:r>
            <a:endParaRPr lang="en-US" sz="1850" dirty="0"/>
          </a:p>
        </p:txBody>
      </p:sp>
      <p:sp>
        <p:nvSpPr>
          <p:cNvPr id="3" name="Shape 1"/>
          <p:cNvSpPr/>
          <p:nvPr/>
        </p:nvSpPr>
        <p:spPr>
          <a:xfrm>
            <a:off x="734200" y="1035447"/>
            <a:ext cx="1287629" cy="161826"/>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798096" y="1073745"/>
            <a:ext cx="85227" cy="85229"/>
          </a:xfrm>
          <a:prstGeom prst="rect">
            <a:avLst/>
          </a:prstGeom>
        </p:spPr>
      </p:pic>
      <p:sp>
        <p:nvSpPr>
          <p:cNvPr id="5" name="Text 2"/>
          <p:cNvSpPr/>
          <p:nvPr/>
        </p:nvSpPr>
        <p:spPr>
          <a:xfrm>
            <a:off x="925886" y="1069314"/>
            <a:ext cx="1641632" cy="97929"/>
          </a:xfrm>
          <a:prstGeom prst="rect">
            <a:avLst/>
          </a:prstGeom>
          <a:noFill/>
          <a:ln/>
        </p:spPr>
        <p:txBody>
          <a:bodyPr wrap="none" lIns="0" tIns="0" rIns="0" bIns="0" rtlCol="0" anchor="t"/>
          <a:lstStyle/>
          <a:p>
            <a:pPr algn="l" indent="0" marL="0">
              <a:lnSpc>
                <a:spcPct val="96000"/>
              </a:lnSpc>
              <a:buNone/>
            </a:pPr>
            <a:r>
              <a:rPr lang="en-US" sz="650" dirty="0">
                <a:solidFill>
                  <a:srgbClr val="E0E4E6"/>
                </a:solidFill>
                <a:latin typeface="Barlow" pitchFamily="34" charset="0"/>
                <a:ea typeface="Barlow" pitchFamily="34" charset="-122"/>
                <a:cs typeface="Barlow" pitchFamily="34" charset="-120"/>
              </a:rPr>
              <a:t>SELECTION AND ITERATION</a:t>
            </a:r>
            <a:endParaRPr lang="en-US" sz="650" dirty="0"/>
          </a:p>
        </p:txBody>
      </p:sp>
      <p:sp>
        <p:nvSpPr>
          <p:cNvPr id="6" name="Text 3"/>
          <p:cNvSpPr/>
          <p:nvPr/>
        </p:nvSpPr>
        <p:spPr>
          <a:xfrm>
            <a:off x="734200" y="1319624"/>
            <a:ext cx="5231674" cy="147935"/>
          </a:xfrm>
          <a:prstGeom prst="rect">
            <a:avLst/>
          </a:prstGeom>
          <a:noFill/>
          <a:ln/>
        </p:spPr>
        <p:txBody>
          <a:bodyPr wrap="none" lIns="0" tIns="0" rIns="0" bIns="0" rtlCol="0" anchor="t"/>
          <a:lstStyle/>
          <a:p>
            <a:pPr algn="l" indent="0" marL="0">
              <a:lnSpc>
                <a:spcPct val="104000"/>
              </a:lnSpc>
              <a:buNone/>
            </a:pPr>
            <a:r>
              <a:rPr lang="en-US" sz="900" b="1" dirty="0">
                <a:solidFill>
                  <a:srgbClr val="F0FCFF"/>
                </a:solidFill>
                <a:latin typeface="Spline Sans Bold" pitchFamily="34" charset="0"/>
                <a:ea typeface="Spline Sans Bold" pitchFamily="34" charset="-122"/>
                <a:cs typeface="Spline Sans Bold" pitchFamily="34" charset="-120"/>
              </a:rPr>
              <a:t>Key Concepts</a:t>
            </a:r>
            <a:endParaRPr lang="en-US" sz="900" dirty="0"/>
          </a:p>
        </p:txBody>
      </p:sp>
      <p:sp>
        <p:nvSpPr>
          <p:cNvPr id="7" name="Text 4"/>
          <p:cNvSpPr/>
          <p:nvPr/>
        </p:nvSpPr>
        <p:spPr>
          <a:xfrm>
            <a:off x="734200" y="1514177"/>
            <a:ext cx="5231674" cy="589558"/>
          </a:xfrm>
          <a:prstGeom prst="rect">
            <a:avLst/>
          </a:prstGeom>
          <a:noFill/>
          <a:ln/>
        </p:spPr>
        <p:txBody>
          <a:bodyPr wrap="square" lIns="0" tIns="0" rIns="0" bIns="0" rtlCol="0" anchor="t">
            <a:normAutofit/>
          </a:bodyPr>
          <a:lstStyle/>
          <a:p>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if</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if-else</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nested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if</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if-else-if</a:t>
            </a:r>
            <a:endParaRPr lang="en-US" sz="800" dirty="0"/>
          </a:p>
          <a:p>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switch</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break</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default</a:t>
            </a:r>
            <a:endParaRPr lang="en-US" sz="800" dirty="0"/>
          </a:p>
          <a:p>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for</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while</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a:t>
            </a:r>
            <a:pPr algn="l" marL="162560" indent="-162560">
              <a:lnSpc>
                <a:spcPct val="101000"/>
              </a:lnSpc>
              <a:buSzPct val="100000"/>
              <a:buChar char="•"/>
            </a:pPr>
            <a:r>
              <a:rPr lang="en-US" sz="800" dirty="0">
                <a:solidFill>
                  <a:srgbClr val="E0E4E6"/>
                </a:solidFill>
                <a:highlight>
                  <a:srgbClr val="171528"/>
                </a:highlight>
                <a:latin typeface="Consolas" pitchFamily="34" charset="0"/>
                <a:ea typeface="Consolas" pitchFamily="34" charset="-122"/>
                <a:cs typeface="Consolas" pitchFamily="34" charset="-120"/>
              </a:rPr>
              <a:t>do-while</a:t>
            </a:r>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 loops</a:t>
            </a:r>
            <a:endParaRPr lang="en-US" sz="800" dirty="0"/>
          </a:p>
          <a:p>
            <a:pPr algn="l" marL="162560" indent="-162560">
              <a:lnSpc>
                <a:spcPct val="101000"/>
              </a:lnSpc>
              <a:buSzPct val="100000"/>
              <a:buChar char="•"/>
            </a:pPr>
            <a:r>
              <a:rPr lang="en-US" sz="800" dirty="0">
                <a:solidFill>
                  <a:srgbClr val="E0E4E6"/>
                </a:solidFill>
                <a:latin typeface="Barlow" pitchFamily="34" charset="0"/>
                <a:ea typeface="Barlow" pitchFamily="34" charset="-122"/>
                <a:cs typeface="Barlow" pitchFamily="34" charset="-120"/>
              </a:rPr>
              <a:t>Menu repetition and input validation</a:t>
            </a:r>
            <a:endParaRPr lang="en-US" sz="800" dirty="0"/>
          </a:p>
        </p:txBody>
      </p:sp>
      <p:sp>
        <p:nvSpPr>
          <p:cNvPr id="8" name="Text 5"/>
          <p:cNvSpPr/>
          <p:nvPr/>
        </p:nvSpPr>
        <p:spPr>
          <a:xfrm>
            <a:off x="734200" y="2165266"/>
            <a:ext cx="5231674" cy="147935"/>
          </a:xfrm>
          <a:prstGeom prst="rect">
            <a:avLst/>
          </a:prstGeom>
          <a:noFill/>
          <a:ln/>
        </p:spPr>
        <p:txBody>
          <a:bodyPr wrap="none" lIns="0" tIns="0" rIns="0" bIns="0" rtlCol="0" anchor="t"/>
          <a:lstStyle/>
          <a:p>
            <a:pPr algn="l" indent="0" marL="0">
              <a:lnSpc>
                <a:spcPct val="104000"/>
              </a:lnSpc>
              <a:buNone/>
            </a:pPr>
            <a:r>
              <a:rPr lang="en-US" sz="900" b="1" dirty="0">
                <a:solidFill>
                  <a:srgbClr val="F0FCFF"/>
                </a:solidFill>
                <a:latin typeface="Spline Sans Bold" pitchFamily="34" charset="0"/>
                <a:ea typeface="Spline Sans Bold" pitchFamily="34" charset="-122"/>
                <a:cs typeface="Spline Sans Bold" pitchFamily="34" charset="-120"/>
              </a:rPr>
              <a:t>Sample Output</a:t>
            </a:r>
            <a:endParaRPr lang="en-US" sz="900" dirty="0"/>
          </a:p>
        </p:txBody>
      </p:sp>
      <p:sp>
        <p:nvSpPr>
          <p:cNvPr id="9" name="Shape 6"/>
          <p:cNvSpPr/>
          <p:nvPr/>
        </p:nvSpPr>
        <p:spPr>
          <a:xfrm>
            <a:off x="734200" y="2366566"/>
            <a:ext cx="5231674" cy="1917502"/>
          </a:xfrm>
          <a:prstGeom prst="roundRect">
            <a:avLst>
              <a:gd name="adj" fmla="val 8334"/>
            </a:avLst>
          </a:prstGeom>
          <a:solidFill>
            <a:srgbClr val="171528"/>
          </a:solidFill>
          <a:ln/>
        </p:spPr>
      </p:sp>
      <p:sp>
        <p:nvSpPr>
          <p:cNvPr id="10" name="Text 7"/>
          <p:cNvSpPr/>
          <p:nvPr/>
        </p:nvSpPr>
        <p:spPr>
          <a:xfrm>
            <a:off x="861991" y="2473027"/>
            <a:ext cx="4976093" cy="1704578"/>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PERSONAL FITNESS TRACKER — CO2</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1. Running  2. Cycling</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3. Walking  4. Exit</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Choose an option: 1</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Enter duration in minutes: 30</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Running selected.</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Workout duration: 30 minutes</a:t>
            </a:r>
            <a:endParaRPr lang="en-US" sz="800" dirty="0"/>
          </a:p>
          <a:p>
            <a:pPr algn="l" indent="0" marL="0">
              <a:lnSpc>
                <a:spcPct val="133000"/>
              </a:lnSpc>
              <a:buNone/>
            </a:pP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Choose an option: 4</a:t>
            </a:r>
            <a:endParaRPr lang="en-US" sz="800" dirty="0"/>
          </a:p>
          <a:p>
            <a:pPr algn="l" indent="0" marL="0">
              <a:lnSpc>
                <a:spcPct val="133000"/>
              </a:lnSpc>
              <a:buNone/>
            </a:pPr>
            <a:r>
              <a:rPr lang="en-US" sz="800" dirty="0">
                <a:solidFill>
                  <a:srgbClr val="A5D6FF"/>
                </a:solidFill>
                <a:latin typeface="Consolas" pitchFamily="34" charset="0"/>
                <a:ea typeface="Consolas" pitchFamily="34" charset="-122"/>
                <a:cs typeface="Consolas" pitchFamily="34" charset="-120"/>
              </a:rPr>
              <a:t>Exiting Fitness Tracker. Goodbye!</a:t>
            </a:r>
            <a:endParaRPr lang="en-US" sz="800" dirty="0"/>
          </a:p>
        </p:txBody>
      </p:sp>
      <p:sp>
        <p:nvSpPr>
          <p:cNvPr id="11" name="Text 8"/>
          <p:cNvSpPr/>
          <p:nvPr/>
        </p:nvSpPr>
        <p:spPr>
          <a:xfrm>
            <a:off x="6232171" y="1319624"/>
            <a:ext cx="5231674" cy="147935"/>
          </a:xfrm>
          <a:prstGeom prst="rect">
            <a:avLst/>
          </a:prstGeom>
          <a:noFill/>
          <a:ln/>
        </p:spPr>
        <p:txBody>
          <a:bodyPr wrap="none" lIns="0" tIns="0" rIns="0" bIns="0" rtlCol="0" anchor="t"/>
          <a:lstStyle/>
          <a:p>
            <a:pPr algn="l" indent="0" marL="0">
              <a:lnSpc>
                <a:spcPct val="104000"/>
              </a:lnSpc>
              <a:buNone/>
            </a:pPr>
            <a:r>
              <a:rPr lang="en-US" sz="900" b="1" dirty="0">
                <a:solidFill>
                  <a:srgbClr val="F0FCFF"/>
                </a:solidFill>
                <a:latin typeface="Spline Sans Bold" pitchFamily="34" charset="0"/>
                <a:ea typeface="Spline Sans Bold" pitchFamily="34" charset="-122"/>
                <a:cs typeface="Spline Sans Bold" pitchFamily="34" charset="-120"/>
              </a:rPr>
              <a:t>Program: Workout Menu with Selection</a:t>
            </a:r>
            <a:endParaRPr lang="en-US" sz="900" dirty="0"/>
          </a:p>
        </p:txBody>
      </p:sp>
      <p:sp>
        <p:nvSpPr>
          <p:cNvPr id="12" name="Shape 9"/>
          <p:cNvSpPr/>
          <p:nvPr/>
        </p:nvSpPr>
        <p:spPr>
          <a:xfrm>
            <a:off x="6232171" y="1520924"/>
            <a:ext cx="5231674" cy="4644827"/>
          </a:xfrm>
          <a:prstGeom prst="roundRect">
            <a:avLst>
              <a:gd name="adj" fmla="val 3441"/>
            </a:avLst>
          </a:prstGeom>
          <a:solidFill>
            <a:srgbClr val="171528"/>
          </a:solidFill>
          <a:ln/>
        </p:spPr>
      </p:sp>
      <p:sp>
        <p:nvSpPr>
          <p:cNvPr id="13" name="Text 10"/>
          <p:cNvSpPr/>
          <p:nvPr/>
        </p:nvSpPr>
        <p:spPr>
          <a:xfrm>
            <a:off x="6359961" y="1627386"/>
            <a:ext cx="4976093" cy="4431903"/>
          </a:xfrm>
          <a:prstGeom prst="rect">
            <a:avLst/>
          </a:prstGeom>
          <a:noFill/>
          <a:ln/>
        </p:spPr>
        <p:txBody>
          <a:bodyPr wrap="square" lIns="0" tIns="0" rIns="0" bIns="0" rtlCol="0" anchor="t">
            <a:normAutofit/>
          </a:bodyPr>
          <a:lstStyle/>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while (!exit)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System.out.println(</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"1. Running 2. Cycling"</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 " 3. Walking 4. Exit");</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System.out.print("Choose: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choice = sc.nextInt();</a:t>
            </a:r>
            <a:endParaRPr lang="en-US" sz="800" dirty="0"/>
          </a:p>
          <a:p>
            <a:pPr algn="l" indent="0" marL="0">
              <a:lnSpc>
                <a:spcPct val="133000"/>
              </a:lnSpc>
              <a:buNone/>
            </a:pP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switch (choice)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case 1: case 2: case 3:</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System.out.print("Duration (min):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int duration = sc.nextInt();</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if (duration &gt; 0)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System.out.println(</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"Workout duration: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 duration + " min");</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 else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System.out.println("Invalid input");</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break;</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case 4:</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System.out.println("Goodbye!");</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exit = true; break;</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default:</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System.out.println("Invalid choice");</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 }</a:t>
            </a:r>
            <a:endParaRPr lang="en-US" sz="800" dirty="0"/>
          </a:p>
          <a:p>
            <a:pPr algn="l" indent="0" marL="0">
              <a:lnSpc>
                <a:spcPct val="133000"/>
              </a:lnSpc>
              <a:buNone/>
            </a:pPr>
            <a:r>
              <a:rPr lang="en-US" sz="800" dirty="0">
                <a:solidFill>
                  <a:srgbClr val="FF7B72"/>
                </a:solidFill>
                <a:latin typeface="Consolas" pitchFamily="34" charset="0"/>
                <a:ea typeface="Consolas" pitchFamily="34" charset="-122"/>
                <a:cs typeface="Consolas" pitchFamily="34" charset="-120"/>
              </a:rPr>
              <a: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4200" y="612524"/>
            <a:ext cx="10723294" cy="307777"/>
          </a:xfrm>
          <a:prstGeom prst="rect">
            <a:avLst/>
          </a:prstGeom>
          <a:noFill/>
          <a:ln/>
        </p:spPr>
        <p:txBody>
          <a:bodyPr wrap="none" lIns="0" tIns="0" rIns="0" bIns="0" rtlCol="0" anchor="t"/>
          <a:lstStyle/>
          <a:p>
            <a:pPr algn="l" indent="0" marL="0">
              <a:lnSpc>
                <a:spcPct val="104000"/>
              </a:lnSpc>
              <a:buNone/>
            </a:pPr>
            <a:r>
              <a:rPr lang="en-US" sz="1900" b="1" dirty="0">
                <a:solidFill>
                  <a:srgbClr val="F0FCFF"/>
                </a:solidFill>
                <a:latin typeface="Spline Sans Bold" pitchFamily="34" charset="0"/>
                <a:ea typeface="Spline Sans Bold" pitchFamily="34" charset="-122"/>
                <a:cs typeface="Spline Sans Bold" pitchFamily="34" charset="-120"/>
              </a:rPr>
              <a:t>CO3 / Module 3: Methods, Recursion &amp; Arrays</a:t>
            </a:r>
            <a:endParaRPr lang="en-US" sz="1900" dirty="0"/>
          </a:p>
        </p:txBody>
      </p:sp>
      <p:sp>
        <p:nvSpPr>
          <p:cNvPr id="3" name="Shape 1"/>
          <p:cNvSpPr/>
          <p:nvPr/>
        </p:nvSpPr>
        <p:spPr>
          <a:xfrm>
            <a:off x="734200" y="1025327"/>
            <a:ext cx="2062905" cy="168275"/>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800675" y="1065113"/>
            <a:ext cx="88600" cy="88602"/>
          </a:xfrm>
          <a:prstGeom prst="rect">
            <a:avLst/>
          </a:prstGeom>
        </p:spPr>
      </p:pic>
      <p:sp>
        <p:nvSpPr>
          <p:cNvPr id="5" name="Text 2"/>
          <p:cNvSpPr/>
          <p:nvPr/>
        </p:nvSpPr>
        <p:spPr>
          <a:xfrm>
            <a:off x="933526" y="1061292"/>
            <a:ext cx="2406689" cy="101798"/>
          </a:xfrm>
          <a:prstGeom prst="rect">
            <a:avLst/>
          </a:prstGeom>
          <a:noFill/>
          <a:ln/>
        </p:spPr>
        <p:txBody>
          <a:bodyPr wrap="none" lIns="0" tIns="0" rIns="0" bIns="0" rtlCol="0" anchor="t"/>
          <a:lstStyle/>
          <a:p>
            <a:pPr algn="l" indent="0" marL="0">
              <a:lnSpc>
                <a:spcPct val="96000"/>
              </a:lnSpc>
              <a:buNone/>
            </a:pPr>
            <a:r>
              <a:rPr lang="en-US" sz="650" dirty="0">
                <a:solidFill>
                  <a:srgbClr val="E0E4E6"/>
                </a:solidFill>
                <a:latin typeface="Barlow" pitchFamily="34" charset="0"/>
                <a:ea typeface="Barlow" pitchFamily="34" charset="-122"/>
                <a:cs typeface="Barlow" pitchFamily="34" charset="-120"/>
              </a:rPr>
              <a:t>DECOMPOSITION WITH METHODS AND ARRAYS</a:t>
            </a:r>
            <a:endParaRPr lang="en-US" sz="650" dirty="0"/>
          </a:p>
        </p:txBody>
      </p:sp>
      <p:sp>
        <p:nvSpPr>
          <p:cNvPr id="6" name="Text 3"/>
          <p:cNvSpPr/>
          <p:nvPr/>
        </p:nvSpPr>
        <p:spPr>
          <a:xfrm>
            <a:off x="734200" y="1323800"/>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Program: Workout Duration Analysis</a:t>
            </a:r>
            <a:endParaRPr lang="en-US" sz="950" dirty="0"/>
          </a:p>
        </p:txBody>
      </p:sp>
      <p:sp>
        <p:nvSpPr>
          <p:cNvPr id="7" name="Shape 4"/>
          <p:cNvSpPr/>
          <p:nvPr/>
        </p:nvSpPr>
        <p:spPr>
          <a:xfrm>
            <a:off x="734200" y="1537494"/>
            <a:ext cx="5226515" cy="4654054"/>
          </a:xfrm>
          <a:prstGeom prst="roundRect">
            <a:avLst>
              <a:gd name="adj" fmla="val 3571"/>
            </a:avLst>
          </a:prstGeom>
          <a:solidFill>
            <a:srgbClr val="171528"/>
          </a:solidFill>
          <a:ln/>
        </p:spPr>
      </p:sp>
      <p:sp>
        <p:nvSpPr>
          <p:cNvPr id="8" name="Text 5"/>
          <p:cNvSpPr/>
          <p:nvPr/>
        </p:nvSpPr>
        <p:spPr>
          <a:xfrm>
            <a:off x="867150" y="1648351"/>
            <a:ext cx="4960615" cy="4432598"/>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int[] durations = {30, 45, 20};</a:t>
            </a:r>
            <a:endParaRPr lang="en-US" sz="850" dirty="0"/>
          </a:p>
          <a:p>
            <a:pPr algn="l" indent="0" marL="0">
              <a:lnSpc>
                <a:spcPct val="133000"/>
              </a:lnSpc>
              <a:buNone/>
            </a:pP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System.out.print("Workout Durations: ");</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for (int d : durations)</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System.out.print(d + " ");</a:t>
            </a:r>
            <a:endParaRPr lang="en-US" sz="850" dirty="0"/>
          </a:p>
          <a:p>
            <a:pPr algn="l" indent="0" marL="0">
              <a:lnSpc>
                <a:spcPct val="133000"/>
              </a:lnSpc>
              <a:buNone/>
            </a:pP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int total = 0;</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for (int d : durations) total += d;</a:t>
            </a:r>
            <a:endParaRPr lang="en-US" sz="850" dirty="0"/>
          </a:p>
          <a:p>
            <a:pPr algn="l" indent="0" marL="0">
              <a:lnSpc>
                <a:spcPct val="133000"/>
              </a:lnSpc>
              <a:buNone/>
            </a:pP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System.out.println(</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"\nTotal: " + total + " min");</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System.out.printf(</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"Average: %.2f min\n",</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(double) total / durations.length);</a:t>
            </a:r>
            <a:endParaRPr lang="en-US" sz="850" dirty="0"/>
          </a:p>
          <a:p>
            <a:pPr algn="l" indent="0" marL="0">
              <a:lnSpc>
                <a:spcPct val="133000"/>
              </a:lnSpc>
              <a:buNone/>
            </a:pP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System.out.print("Search duration: ");</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int search = sc.nextInt();</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boolean found = false;</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for (int d : durations) {</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if (d == search) {</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found = true; break;</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System.out.println(</a:t>
            </a:r>
            <a:endParaRPr lang="en-US" sz="850" dirty="0"/>
          </a:p>
          <a:p>
            <a:pPr algn="l" indent="0" marL="0">
              <a:lnSpc>
                <a:spcPct val="133000"/>
              </a:lnSpc>
              <a:buNone/>
            </a:pPr>
            <a:r>
              <a:rPr lang="en-US" sz="850" dirty="0">
                <a:solidFill>
                  <a:srgbClr val="FFA657"/>
                </a:solidFill>
                <a:latin typeface="Consolas" pitchFamily="34" charset="0"/>
                <a:ea typeface="Consolas" pitchFamily="34" charset="-122"/>
                <a:cs typeface="Consolas" pitchFamily="34" charset="-120"/>
              </a:rPr>
              <a:t>    found ? "Found" : "Not found");</a:t>
            </a:r>
            <a:endParaRPr lang="en-US" sz="850" dirty="0"/>
          </a:p>
        </p:txBody>
      </p:sp>
      <p:sp>
        <p:nvSpPr>
          <p:cNvPr id="9" name="Text 6"/>
          <p:cNvSpPr/>
          <p:nvPr/>
        </p:nvSpPr>
        <p:spPr>
          <a:xfrm>
            <a:off x="6237330" y="1323800"/>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Key Concepts</a:t>
            </a:r>
            <a:endParaRPr lang="en-US" sz="950" dirty="0"/>
          </a:p>
        </p:txBody>
      </p:sp>
      <p:sp>
        <p:nvSpPr>
          <p:cNvPr id="10" name="Text 7"/>
          <p:cNvSpPr/>
          <p:nvPr/>
        </p:nvSpPr>
        <p:spPr>
          <a:xfrm>
            <a:off x="6237330" y="1530152"/>
            <a:ext cx="5226515" cy="758924"/>
          </a:xfrm>
          <a:prstGeom prst="rect">
            <a:avLst/>
          </a:prstGeom>
          <a:noFill/>
          <a:ln/>
        </p:spPr>
        <p:txBody>
          <a:bodyPr wrap="square" lIns="0" tIns="0" rIns="0" bIns="0" rtlCol="0" anchor="t">
            <a:normAutofit/>
          </a:bodyPr>
          <a:lstStyle/>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User-defined methods, parameters, return values</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Method invocation and method overloading</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One-dimensional arrays and array traversal</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Summation, average calculation, linear search</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Enhanced </a:t>
            </a:r>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for</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loop</a:t>
            </a:r>
            <a:endParaRPr lang="en-US" sz="850" dirty="0"/>
          </a:p>
        </p:txBody>
      </p:sp>
      <p:sp>
        <p:nvSpPr>
          <p:cNvPr id="11" name="Text 8"/>
          <p:cNvSpPr/>
          <p:nvPr/>
        </p:nvSpPr>
        <p:spPr>
          <a:xfrm>
            <a:off x="6237330" y="2353492"/>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Sample Output</a:t>
            </a:r>
            <a:endParaRPr lang="en-US" sz="950" dirty="0"/>
          </a:p>
        </p:txBody>
      </p:sp>
      <p:sp>
        <p:nvSpPr>
          <p:cNvPr id="12" name="Shape 9"/>
          <p:cNvSpPr/>
          <p:nvPr/>
        </p:nvSpPr>
        <p:spPr>
          <a:xfrm>
            <a:off x="6237330" y="2567186"/>
            <a:ext cx="5226515" cy="1285280"/>
          </a:xfrm>
          <a:prstGeom prst="roundRect">
            <a:avLst>
              <a:gd name="adj" fmla="val 12931"/>
            </a:avLst>
          </a:prstGeom>
          <a:solidFill>
            <a:srgbClr val="171528"/>
          </a:solidFill>
          <a:ln/>
        </p:spPr>
      </p:sp>
      <p:sp>
        <p:nvSpPr>
          <p:cNvPr id="13" name="Text 10"/>
          <p:cNvSpPr/>
          <p:nvPr/>
        </p:nvSpPr>
        <p:spPr>
          <a:xfrm>
            <a:off x="6370280" y="2678043"/>
            <a:ext cx="4960615" cy="1063823"/>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PERSONAL FITNESS TRACKER — CO3</a:t>
            </a:r>
            <a:endParaRPr lang="en-US" sz="850" dirty="0"/>
          </a:p>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Workout Durations: 30 45 20</a:t>
            </a:r>
            <a:endParaRPr lang="en-US" sz="850" dirty="0"/>
          </a:p>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Total Workout Duration: 95 minutes</a:t>
            </a:r>
            <a:endParaRPr lang="en-US" sz="850" dirty="0"/>
          </a:p>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Average Duration: 31.67 minutes</a:t>
            </a:r>
            <a:endParaRPr lang="en-US" sz="850" dirty="0"/>
          </a:p>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Enter duration to search: 45</a:t>
            </a:r>
            <a:endParaRPr lang="en-US" sz="850" dirty="0"/>
          </a:p>
          <a:p>
            <a:pPr algn="l" indent="0" marL="0">
              <a:lnSpc>
                <a:spcPct val="133000"/>
              </a:lnSpc>
              <a:buNone/>
            </a:pPr>
            <a:r>
              <a:rPr lang="en-US" sz="850" dirty="0">
                <a:solidFill>
                  <a:srgbClr val="A5D6FF"/>
                </a:solidFill>
                <a:latin typeface="Consolas" pitchFamily="34" charset="0"/>
                <a:ea typeface="Consolas" pitchFamily="34" charset="-122"/>
                <a:cs typeface="Consolas" pitchFamily="34" charset="-120"/>
              </a:rPr>
              <a:t>Duration 45 minutes found.</a:t>
            </a:r>
            <a:endParaRPr lang="en-US" sz="850" dirty="0"/>
          </a:p>
        </p:txBody>
      </p:sp>
      <p:sp>
        <p:nvSpPr>
          <p:cNvPr id="14" name="Shape 11"/>
          <p:cNvSpPr/>
          <p:nvPr/>
        </p:nvSpPr>
        <p:spPr>
          <a:xfrm>
            <a:off x="6237330" y="3918248"/>
            <a:ext cx="5226515" cy="431403"/>
          </a:xfrm>
          <a:prstGeom prst="roundRect">
            <a:avLst>
              <a:gd name="adj" fmla="val 38526"/>
            </a:avLst>
          </a:prstGeom>
          <a:solidFill>
            <a:srgbClr val="00805A"/>
          </a:solidFill>
          <a:ln/>
        </p:spPr>
      </p:sp>
      <p:pic>
        <p:nvPicPr>
          <p:cNvPr id="15" name="Image 1" descr="preencoded.png">    </p:cNvPr>
          <p:cNvPicPr>
            <a:picLocks noChangeAspect="1"/>
          </p:cNvPicPr>
          <p:nvPr/>
        </p:nvPicPr>
        <p:blipFill>
          <a:blip r:embed="rId2"/>
          <a:stretch>
            <a:fillRect/>
          </a:stretch>
        </p:blipFill>
        <p:spPr>
          <a:xfrm>
            <a:off x="6348055" y="4015383"/>
            <a:ext cx="138407" cy="110728"/>
          </a:xfrm>
          <a:prstGeom prst="rect">
            <a:avLst/>
          </a:prstGeom>
        </p:spPr>
      </p:pic>
      <p:sp>
        <p:nvSpPr>
          <p:cNvPr id="16" name="Text 12"/>
          <p:cNvSpPr/>
          <p:nvPr/>
        </p:nvSpPr>
        <p:spPr>
          <a:xfrm>
            <a:off x="6597187" y="4009101"/>
            <a:ext cx="4755932" cy="270867"/>
          </a:xfrm>
          <a:prstGeom prst="rect">
            <a:avLst/>
          </a:prstGeom>
          <a:noFill/>
          <a:ln/>
        </p:spPr>
        <p:txBody>
          <a:bodyPr wrap="square" lIns="0" tIns="0" rIns="0" bIns="0" rtlCol="0" anchor="t">
            <a:normAutofit/>
          </a:bodyPr>
          <a:lstStyle/>
          <a:p>
            <a:pPr algn="l" indent="0" marL="0">
              <a:lnSpc>
                <a:spcPct val="102000"/>
              </a:lnSpc>
              <a:buNone/>
            </a:pPr>
            <a:r>
              <a:rPr lang="en-US" sz="850" dirty="0">
                <a:solidFill>
                  <a:srgbClr val="FFFFFF"/>
                </a:solidFill>
                <a:latin typeface="Barlow" pitchFamily="34" charset="0"/>
                <a:ea typeface="Barlow" pitchFamily="34" charset="-122"/>
                <a:cs typeface="Barlow" pitchFamily="34" charset="-120"/>
              </a:rPr>
              <a:t>Methods promote </a:t>
            </a:r>
            <a:pPr algn="l" indent="0" marL="0">
              <a:lnSpc>
                <a:spcPct val="102000"/>
              </a:lnSpc>
              <a:buNone/>
            </a:pPr>
            <a:r>
              <a:rPr lang="en-US" sz="850" b="1" dirty="0">
                <a:solidFill>
                  <a:srgbClr val="FFFFFF"/>
                </a:solidFill>
                <a:latin typeface="Barlow Bold" pitchFamily="34" charset="0"/>
                <a:ea typeface="Barlow Bold" pitchFamily="34" charset="-122"/>
                <a:cs typeface="Barlow Bold" pitchFamily="34" charset="-120"/>
              </a:rPr>
              <a:t>code reuse</a:t>
            </a:r>
            <a:pPr algn="l" indent="0" marL="0">
              <a:lnSpc>
                <a:spcPct val="102000"/>
              </a:lnSpc>
              <a:buNone/>
            </a:pPr>
            <a:r>
              <a:rPr lang="en-US" sz="850" dirty="0">
                <a:solidFill>
                  <a:srgbClr val="FFFFFF"/>
                </a:solidFill>
                <a:latin typeface="Barlow" pitchFamily="34" charset="0"/>
                <a:ea typeface="Barlow" pitchFamily="34" charset="-122"/>
                <a:cs typeface="Barlow" pitchFamily="34" charset="-120"/>
              </a:rPr>
              <a:t> — each calculation is encapsulated in its own method for clean, modular design.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4200" y="615821"/>
            <a:ext cx="10723294" cy="254496"/>
          </a:xfrm>
          <a:prstGeom prst="rect">
            <a:avLst/>
          </a:prstGeom>
          <a:noFill/>
          <a:ln/>
        </p:spPr>
        <p:txBody>
          <a:bodyPr wrap="none" lIns="0" tIns="0" rIns="0" bIns="0" rtlCol="0" anchor="t"/>
          <a:lstStyle/>
          <a:p>
            <a:pPr algn="l" indent="0" marL="0">
              <a:lnSpc>
                <a:spcPct val="104000"/>
              </a:lnSpc>
              <a:buNone/>
            </a:pPr>
            <a:r>
              <a:rPr lang="en-US" sz="1600" b="1" dirty="0">
                <a:solidFill>
                  <a:srgbClr val="F0FCFF"/>
                </a:solidFill>
                <a:latin typeface="Spline Sans Bold" pitchFamily="34" charset="0"/>
                <a:ea typeface="Spline Sans Bold" pitchFamily="34" charset="-122"/>
                <a:cs typeface="Spline Sans Bold" pitchFamily="34" charset="-120"/>
              </a:rPr>
              <a:t>CO4 / Module 4: Object-Oriented Programming &amp; Exception Handling</a:t>
            </a:r>
            <a:endParaRPr lang="en-US" sz="1600" dirty="0"/>
          </a:p>
        </p:txBody>
      </p:sp>
      <p:sp>
        <p:nvSpPr>
          <p:cNvPr id="3" name="Shape 1"/>
          <p:cNvSpPr/>
          <p:nvPr/>
        </p:nvSpPr>
        <p:spPr>
          <a:xfrm>
            <a:off x="734200" y="940891"/>
            <a:ext cx="1653042" cy="139204"/>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789166" y="973832"/>
            <a:ext cx="73222" cy="73223"/>
          </a:xfrm>
          <a:prstGeom prst="rect">
            <a:avLst/>
          </a:prstGeom>
        </p:spPr>
      </p:pic>
      <p:sp>
        <p:nvSpPr>
          <p:cNvPr id="5" name="Text 2"/>
          <p:cNvSpPr/>
          <p:nvPr/>
        </p:nvSpPr>
        <p:spPr>
          <a:xfrm>
            <a:off x="898999" y="970543"/>
            <a:ext cx="2042863" cy="84237"/>
          </a:xfrm>
          <a:prstGeom prst="rect">
            <a:avLst/>
          </a:prstGeom>
          <a:noFill/>
          <a:ln/>
        </p:spPr>
        <p:txBody>
          <a:bodyPr wrap="none" lIns="0" tIns="0" rIns="0" bIns="0" rtlCol="0" anchor="t"/>
          <a:lstStyle/>
          <a:p>
            <a:pPr algn="l" indent="0" marL="0">
              <a:lnSpc>
                <a:spcPct val="96000"/>
              </a:lnSpc>
              <a:buNone/>
            </a:pPr>
            <a:r>
              <a:rPr lang="en-US" sz="550" dirty="0">
                <a:solidFill>
                  <a:srgbClr val="E0E4E6"/>
                </a:solidFill>
                <a:latin typeface="Barlow" pitchFamily="34" charset="0"/>
                <a:ea typeface="Barlow" pitchFamily="34" charset="-122"/>
                <a:cs typeface="Barlow" pitchFamily="34" charset="-120"/>
              </a:rPr>
              <a:t>OBJECT-ORIENTED MODELLING AND DESIGN</a:t>
            </a:r>
            <a:endParaRPr lang="en-US" sz="550" dirty="0"/>
          </a:p>
        </p:txBody>
      </p:sp>
      <p:sp>
        <p:nvSpPr>
          <p:cNvPr id="6" name="Text 3"/>
          <p:cNvSpPr/>
          <p:nvPr/>
        </p:nvSpPr>
        <p:spPr>
          <a:xfrm>
            <a:off x="734200" y="1168137"/>
            <a:ext cx="5797207" cy="127198"/>
          </a:xfrm>
          <a:prstGeom prst="rect">
            <a:avLst/>
          </a:prstGeom>
          <a:noFill/>
          <a:ln/>
        </p:spPr>
        <p:txBody>
          <a:bodyPr wrap="none" lIns="0" tIns="0" rIns="0" bIns="0" rtlCol="0" anchor="t"/>
          <a:lstStyle/>
          <a:p>
            <a:pPr algn="l" indent="0" marL="0">
              <a:lnSpc>
                <a:spcPct val="104000"/>
              </a:lnSpc>
              <a:buNone/>
            </a:pPr>
            <a:r>
              <a:rPr lang="en-US" sz="800" b="1" dirty="0">
                <a:solidFill>
                  <a:srgbClr val="F0FCFF"/>
                </a:solidFill>
                <a:latin typeface="Spline Sans Bold" pitchFamily="34" charset="0"/>
                <a:ea typeface="Spline Sans Bold" pitchFamily="34" charset="-122"/>
                <a:cs typeface="Spline Sans Bold" pitchFamily="34" charset="-120"/>
              </a:rPr>
              <a:t>Workout Class Definition</a:t>
            </a:r>
            <a:endParaRPr lang="en-US" sz="800" dirty="0"/>
          </a:p>
        </p:txBody>
      </p:sp>
      <p:sp>
        <p:nvSpPr>
          <p:cNvPr id="7" name="Shape 4"/>
          <p:cNvSpPr/>
          <p:nvPr/>
        </p:nvSpPr>
        <p:spPr>
          <a:xfrm>
            <a:off x="734200" y="1337171"/>
            <a:ext cx="5797207" cy="4869458"/>
          </a:xfrm>
          <a:prstGeom prst="roundRect">
            <a:avLst>
              <a:gd name="adj" fmla="val 2822"/>
            </a:avLst>
          </a:prstGeom>
          <a:solidFill>
            <a:srgbClr val="171528"/>
          </a:solidFill>
          <a:ln/>
        </p:spPr>
      </p:sp>
      <p:sp>
        <p:nvSpPr>
          <p:cNvPr id="8" name="Text 5"/>
          <p:cNvSpPr/>
          <p:nvPr/>
        </p:nvSpPr>
        <p:spPr>
          <a:xfrm>
            <a:off x="844132" y="1428750"/>
            <a:ext cx="5577343" cy="4686300"/>
          </a:xfrm>
          <a:prstGeom prst="rect">
            <a:avLst/>
          </a:prstGeom>
          <a:noFill/>
          <a:ln/>
        </p:spPr>
        <p:txBody>
          <a:bodyPr wrap="square" lIns="0" tIns="0" rIns="0" bIns="0" rtlCol="0" anchor="t">
            <a:normAutofit/>
          </a:bodyPr>
          <a:lstStyle/>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class Workout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private String exerciseName;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private int duration, caloriesBurned;</a:t>
            </a:r>
            <a:endParaRPr lang="en-US" sz="700" dirty="0"/>
          </a:p>
          <a:p>
            <a:pPr algn="l" indent="0" marL="0">
              <a:lnSpc>
                <a:spcPct val="133000"/>
              </a:lnSpc>
              <a:buNone/>
            </a:pP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public Workout(String name,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int dur, int cal)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this.exerciseName = name;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this.duration = dur;</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this.caloriesBurned = cal;</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a:t>
            </a:r>
            <a:endParaRPr lang="en-US" sz="700" dirty="0"/>
          </a:p>
          <a:p>
            <a:pPr algn="l" indent="0" marL="0">
              <a:lnSpc>
                <a:spcPct val="133000"/>
              </a:lnSpc>
              <a:buNone/>
            </a:pP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public String getExerciseName()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return exerciseName;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public int getDuration()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return duration;</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public int getCaloriesBurned()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return caloriesBurned;</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a:t>
            </a:r>
            <a:endParaRPr lang="en-US" sz="700" dirty="0"/>
          </a:p>
          <a:p>
            <a:pPr algn="l" indent="0" marL="0">
              <a:lnSpc>
                <a:spcPct val="133000"/>
              </a:lnSpc>
              <a:buNone/>
            </a:pP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@Override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public String toString()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return "Exercise: " + exerciseName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 "\nDuration: " + duration + " min"</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 "\nCalories: " + caloriesBurned</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 " kcal";</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 Usage</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Workout w = new Workout("Cycling",40,320);</a:t>
            </a:r>
            <a:endParaRPr lang="en-US" sz="700" dirty="0"/>
          </a:p>
          <a:p>
            <a:pPr algn="l" indent="0" marL="0">
              <a:lnSpc>
                <a:spcPct val="133000"/>
              </a:lnSpc>
              <a:buNone/>
            </a:pPr>
            <a:r>
              <a:rPr lang="en-US" sz="700" dirty="0">
                <a:solidFill>
                  <a:srgbClr val="FF7B72"/>
                </a:solidFill>
                <a:latin typeface="Consolas" pitchFamily="34" charset="0"/>
                <a:ea typeface="Consolas" pitchFamily="34" charset="-122"/>
                <a:cs typeface="Consolas" pitchFamily="34" charset="-120"/>
              </a:rPr>
              <a:t>System.out.println(w.toString());</a:t>
            </a:r>
            <a:endParaRPr lang="en-US" sz="700" dirty="0"/>
          </a:p>
        </p:txBody>
      </p:sp>
      <p:sp>
        <p:nvSpPr>
          <p:cNvPr id="9" name="Text 6"/>
          <p:cNvSpPr/>
          <p:nvPr/>
        </p:nvSpPr>
        <p:spPr>
          <a:xfrm>
            <a:off x="6761192" y="1508259"/>
            <a:ext cx="4702553" cy="127198"/>
          </a:xfrm>
          <a:prstGeom prst="rect">
            <a:avLst/>
          </a:prstGeom>
          <a:noFill/>
          <a:ln/>
        </p:spPr>
        <p:txBody>
          <a:bodyPr wrap="none" lIns="0" tIns="0" rIns="0" bIns="0" rtlCol="0" anchor="t"/>
          <a:lstStyle/>
          <a:p>
            <a:pPr algn="l" indent="0" marL="0">
              <a:lnSpc>
                <a:spcPct val="104000"/>
              </a:lnSpc>
              <a:buNone/>
            </a:pPr>
            <a:r>
              <a:rPr lang="en-US" sz="800" b="1" dirty="0">
                <a:solidFill>
                  <a:srgbClr val="F0FCFF"/>
                </a:solidFill>
                <a:latin typeface="Spline Sans Bold" pitchFamily="34" charset="0"/>
                <a:ea typeface="Spline Sans Bold" pitchFamily="34" charset="-122"/>
                <a:cs typeface="Spline Sans Bold" pitchFamily="34" charset="-120"/>
              </a:rPr>
              <a:t>Class Diagram</a:t>
            </a:r>
            <a:endParaRPr lang="en-US" sz="800" dirty="0"/>
          </a:p>
        </p:txBody>
      </p:sp>
      <p:pic>
        <p:nvPicPr>
          <p:cNvPr id="10" name="Image 1" descr="preencoded.png">    </p:cNvPr>
          <p:cNvPicPr>
            <a:picLocks noChangeAspect="1"/>
          </p:cNvPicPr>
          <p:nvPr/>
        </p:nvPicPr>
        <p:blipFill>
          <a:blip r:embed="rId2"/>
          <a:stretch>
            <a:fillRect/>
          </a:stretch>
        </p:blipFill>
        <p:spPr>
          <a:xfrm>
            <a:off x="7584092" y="1677293"/>
            <a:ext cx="3056655" cy="3056731"/>
          </a:xfrm>
          <a:prstGeom prst="rect">
            <a:avLst/>
          </a:prstGeom>
        </p:spPr>
      </p:pic>
      <p:sp>
        <p:nvSpPr>
          <p:cNvPr id="11" name="Text 7"/>
          <p:cNvSpPr/>
          <p:nvPr/>
        </p:nvSpPr>
        <p:spPr>
          <a:xfrm>
            <a:off x="6761192" y="4782081"/>
            <a:ext cx="4702553" cy="127198"/>
          </a:xfrm>
          <a:prstGeom prst="rect">
            <a:avLst/>
          </a:prstGeom>
          <a:noFill/>
          <a:ln/>
        </p:spPr>
        <p:txBody>
          <a:bodyPr wrap="none" lIns="0" tIns="0" rIns="0" bIns="0" rtlCol="0" anchor="t"/>
          <a:lstStyle/>
          <a:p>
            <a:pPr algn="l" indent="0" marL="0">
              <a:lnSpc>
                <a:spcPct val="104000"/>
              </a:lnSpc>
              <a:buNone/>
            </a:pPr>
            <a:r>
              <a:rPr lang="en-US" sz="800" b="1" dirty="0">
                <a:solidFill>
                  <a:srgbClr val="F0FCFF"/>
                </a:solidFill>
                <a:latin typeface="Spline Sans Bold" pitchFamily="34" charset="0"/>
                <a:ea typeface="Spline Sans Bold" pitchFamily="34" charset="-122"/>
                <a:cs typeface="Spline Sans Bold" pitchFamily="34" charset="-120"/>
              </a:rPr>
              <a:t>Sample Output</a:t>
            </a:r>
            <a:endParaRPr lang="en-US" sz="800" dirty="0"/>
          </a:p>
        </p:txBody>
      </p:sp>
      <p:sp>
        <p:nvSpPr>
          <p:cNvPr id="12" name="Shape 8"/>
          <p:cNvSpPr/>
          <p:nvPr/>
        </p:nvSpPr>
        <p:spPr>
          <a:xfrm>
            <a:off x="6761192" y="4951115"/>
            <a:ext cx="4702553" cy="915392"/>
          </a:xfrm>
          <a:prstGeom prst="roundRect">
            <a:avLst>
              <a:gd name="adj" fmla="val 15014"/>
            </a:avLst>
          </a:prstGeom>
          <a:solidFill>
            <a:srgbClr val="171528"/>
          </a:solidFill>
          <a:ln/>
        </p:spPr>
      </p:sp>
      <p:sp>
        <p:nvSpPr>
          <p:cNvPr id="13" name="Text 9"/>
          <p:cNvSpPr/>
          <p:nvPr/>
        </p:nvSpPr>
        <p:spPr>
          <a:xfrm>
            <a:off x="6871123" y="5042694"/>
            <a:ext cx="4482690" cy="732234"/>
          </a:xfrm>
          <a:prstGeom prst="rect">
            <a:avLst/>
          </a:prstGeom>
          <a:noFill/>
          <a:ln/>
        </p:spPr>
        <p:txBody>
          <a:bodyPr wrap="square" lIns="0" tIns="0" rIns="0" bIns="0" rtlCol="0" anchor="t">
            <a:normAutofit/>
          </a:bodyPr>
          <a:lstStyle/>
          <a:p>
            <a:pPr algn="l" indent="0" marL="0">
              <a:lnSpc>
                <a:spcPct val="133000"/>
              </a:lnSpc>
              <a:buNone/>
            </a:pPr>
            <a:r>
              <a:rPr lang="en-US" sz="700" dirty="0">
                <a:solidFill>
                  <a:srgbClr val="A5D6FF"/>
                </a:solidFill>
                <a:latin typeface="Consolas" pitchFamily="34" charset="0"/>
                <a:ea typeface="Consolas" pitchFamily="34" charset="-122"/>
                <a:cs typeface="Consolas" pitchFamily="34" charset="-120"/>
              </a:rPr>
              <a:t>PERSONAL FITNESS TRACKER — CO4</a:t>
            </a:r>
            <a:endParaRPr lang="en-US" sz="700" dirty="0"/>
          </a:p>
          <a:p>
            <a:pPr algn="l" indent="0" marL="0">
              <a:lnSpc>
                <a:spcPct val="133000"/>
              </a:lnSpc>
              <a:buNone/>
            </a:pPr>
            <a:r>
              <a:rPr lang="en-US" sz="700" dirty="0">
                <a:solidFill>
                  <a:srgbClr val="A5D6FF"/>
                </a:solidFill>
                <a:latin typeface="Consolas" pitchFamily="34" charset="0"/>
                <a:ea typeface="Consolas" pitchFamily="34" charset="-122"/>
                <a:cs typeface="Consolas" pitchFamily="34" charset="-120"/>
              </a:rPr>
              <a:t>Workout Details</a:t>
            </a:r>
            <a:endParaRPr lang="en-US" sz="700" dirty="0"/>
          </a:p>
          <a:p>
            <a:pPr algn="l" indent="0" marL="0">
              <a:lnSpc>
                <a:spcPct val="133000"/>
              </a:lnSpc>
              <a:buNone/>
            </a:pPr>
            <a:r>
              <a:rPr lang="en-US" sz="700" dirty="0">
                <a:solidFill>
                  <a:srgbClr val="A5D6FF"/>
                </a:solidFill>
                <a:latin typeface="Consolas" pitchFamily="34" charset="0"/>
                <a:ea typeface="Consolas" pitchFamily="34" charset="-122"/>
                <a:cs typeface="Consolas" pitchFamily="34" charset="-120"/>
              </a:rPr>
              <a:t>Exercise: Cycling</a:t>
            </a:r>
            <a:endParaRPr lang="en-US" sz="700" dirty="0"/>
          </a:p>
          <a:p>
            <a:pPr algn="l" indent="0" marL="0">
              <a:lnSpc>
                <a:spcPct val="133000"/>
              </a:lnSpc>
              <a:buNone/>
            </a:pPr>
            <a:r>
              <a:rPr lang="en-US" sz="700" dirty="0">
                <a:solidFill>
                  <a:srgbClr val="A5D6FF"/>
                </a:solidFill>
                <a:latin typeface="Consolas" pitchFamily="34" charset="0"/>
                <a:ea typeface="Consolas" pitchFamily="34" charset="-122"/>
                <a:cs typeface="Consolas" pitchFamily="34" charset="-120"/>
              </a:rPr>
              <a:t>Duration: 40 minutes</a:t>
            </a:r>
            <a:endParaRPr lang="en-US" sz="700" dirty="0"/>
          </a:p>
          <a:p>
            <a:pPr algn="l" indent="0" marL="0">
              <a:lnSpc>
                <a:spcPct val="133000"/>
              </a:lnSpc>
              <a:buNone/>
            </a:pPr>
            <a:r>
              <a:rPr lang="en-US" sz="700" dirty="0">
                <a:solidFill>
                  <a:srgbClr val="A5D6FF"/>
                </a:solidFill>
                <a:latin typeface="Consolas" pitchFamily="34" charset="0"/>
                <a:ea typeface="Consolas" pitchFamily="34" charset="-122"/>
                <a:cs typeface="Consolas" pitchFamily="34" charset="-120"/>
              </a:rPr>
              <a:t>Calories Burned: 320 kcal</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4200" y="612524"/>
            <a:ext cx="10723294" cy="307777"/>
          </a:xfrm>
          <a:prstGeom prst="rect">
            <a:avLst/>
          </a:prstGeom>
          <a:noFill/>
          <a:ln/>
        </p:spPr>
        <p:txBody>
          <a:bodyPr wrap="none" lIns="0" tIns="0" rIns="0" bIns="0" rtlCol="0" anchor="t"/>
          <a:lstStyle/>
          <a:p>
            <a:pPr algn="l" indent="0" marL="0">
              <a:lnSpc>
                <a:spcPct val="104000"/>
              </a:lnSpc>
              <a:buNone/>
            </a:pPr>
            <a:r>
              <a:rPr lang="en-US" sz="1900" b="1" dirty="0">
                <a:solidFill>
                  <a:srgbClr val="F0FCFF"/>
                </a:solidFill>
                <a:latin typeface="Spline Sans Bold" pitchFamily="34" charset="0"/>
                <a:ea typeface="Spline Sans Bold" pitchFamily="34" charset="-122"/>
                <a:cs typeface="Spline Sans Bold" pitchFamily="34" charset="-120"/>
              </a:rPr>
              <a:t>CO5 / Module 5: Strings, Library Algorithms &amp; File I/O</a:t>
            </a:r>
            <a:endParaRPr lang="en-US" sz="1900" dirty="0"/>
          </a:p>
        </p:txBody>
      </p:sp>
      <p:sp>
        <p:nvSpPr>
          <p:cNvPr id="3" name="Shape 1"/>
          <p:cNvSpPr/>
          <p:nvPr/>
        </p:nvSpPr>
        <p:spPr>
          <a:xfrm>
            <a:off x="734200" y="1025327"/>
            <a:ext cx="2106957" cy="168275"/>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800675" y="1065113"/>
            <a:ext cx="88600" cy="88602"/>
          </a:xfrm>
          <a:prstGeom prst="rect">
            <a:avLst/>
          </a:prstGeom>
        </p:spPr>
      </p:pic>
      <p:sp>
        <p:nvSpPr>
          <p:cNvPr id="5" name="Text 2"/>
          <p:cNvSpPr/>
          <p:nvPr/>
        </p:nvSpPr>
        <p:spPr>
          <a:xfrm>
            <a:off x="933526" y="1061292"/>
            <a:ext cx="2450741" cy="101798"/>
          </a:xfrm>
          <a:prstGeom prst="rect">
            <a:avLst/>
          </a:prstGeom>
          <a:noFill/>
          <a:ln/>
        </p:spPr>
        <p:txBody>
          <a:bodyPr wrap="none" lIns="0" tIns="0" rIns="0" bIns="0" rtlCol="0" anchor="t"/>
          <a:lstStyle/>
          <a:p>
            <a:pPr algn="l" indent="0" marL="0">
              <a:lnSpc>
                <a:spcPct val="96000"/>
              </a:lnSpc>
              <a:buNone/>
            </a:pPr>
            <a:r>
              <a:rPr lang="en-US" sz="650" dirty="0">
                <a:solidFill>
                  <a:srgbClr val="E0E4E6"/>
                </a:solidFill>
                <a:latin typeface="Barlow" pitchFamily="34" charset="0"/>
                <a:ea typeface="Barlow" pitchFamily="34" charset="-122"/>
                <a:cs typeface="Barlow" pitchFamily="34" charset="-120"/>
              </a:rPr>
              <a:t>WORKOUT HISTORY AND PERSISTENT STORAGE</a:t>
            </a:r>
            <a:endParaRPr lang="en-US" sz="650" dirty="0"/>
          </a:p>
        </p:txBody>
      </p:sp>
      <p:sp>
        <p:nvSpPr>
          <p:cNvPr id="6" name="Text 3"/>
          <p:cNvSpPr/>
          <p:nvPr/>
        </p:nvSpPr>
        <p:spPr>
          <a:xfrm>
            <a:off x="734200" y="1323800"/>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Key Concepts</a:t>
            </a:r>
            <a:endParaRPr lang="en-US" sz="950" dirty="0"/>
          </a:p>
        </p:txBody>
      </p:sp>
      <p:sp>
        <p:nvSpPr>
          <p:cNvPr id="7" name="Text 4"/>
          <p:cNvSpPr/>
          <p:nvPr/>
        </p:nvSpPr>
        <p:spPr>
          <a:xfrm>
            <a:off x="734200" y="1530152"/>
            <a:ext cx="5226515" cy="758924"/>
          </a:xfrm>
          <a:prstGeom prst="rect">
            <a:avLst/>
          </a:prstGeom>
          <a:noFill/>
          <a:ln/>
        </p:spPr>
        <p:txBody>
          <a:bodyPr wrap="square" lIns="0" tIns="0" rIns="0" bIns="0" rtlCol="0" anchor="t">
            <a:normAutofit/>
          </a:bodyPr>
          <a:lstStyle/>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String methods: </a:t>
            </a:r>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trim()</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equalsIgnoreCase()</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split()</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Text parsing and validation</a:t>
            </a:r>
            <a:endParaRPr lang="en-US" sz="850" dirty="0"/>
          </a:p>
          <a:p>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Arrays.sort()</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for ordering data</a:t>
            </a:r>
            <a:endParaRPr lang="en-US" sz="850" dirty="0"/>
          </a:p>
          <a:p>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PrintWriter</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 </a:t>
            </a:r>
            <a:pPr algn="l" marL="172720" indent="-172720">
              <a:lnSpc>
                <a:spcPct val="102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BufferedReader</a:t>
            </a:r>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 for file I/O</a:t>
            </a:r>
            <a:endParaRPr lang="en-US" sz="850" dirty="0"/>
          </a:p>
          <a:p>
            <a:pPr algn="l" marL="172720" indent="-172720">
              <a:lnSpc>
                <a:spcPct val="102000"/>
              </a:lnSpc>
              <a:buSzPct val="100000"/>
              <a:buChar char="•"/>
            </a:pPr>
            <a:r>
              <a:rPr lang="en-US" sz="850" dirty="0">
                <a:solidFill>
                  <a:srgbClr val="E0E4E6"/>
                </a:solidFill>
                <a:latin typeface="Barlow" pitchFamily="34" charset="0"/>
                <a:ea typeface="Barlow" pitchFamily="34" charset="-122"/>
                <a:cs typeface="Barlow" pitchFamily="34" charset="-120"/>
              </a:rPr>
              <a:t>Try-with-resources and exception handling</a:t>
            </a:r>
            <a:endParaRPr lang="en-US" sz="850" dirty="0"/>
          </a:p>
        </p:txBody>
      </p:sp>
      <p:sp>
        <p:nvSpPr>
          <p:cNvPr id="8" name="Text 5"/>
          <p:cNvSpPr/>
          <p:nvPr/>
        </p:nvSpPr>
        <p:spPr>
          <a:xfrm>
            <a:off x="734200" y="2353492"/>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Sample Output</a:t>
            </a:r>
            <a:endParaRPr lang="en-US" sz="950" dirty="0"/>
          </a:p>
        </p:txBody>
      </p:sp>
      <p:sp>
        <p:nvSpPr>
          <p:cNvPr id="9" name="Shape 6"/>
          <p:cNvSpPr/>
          <p:nvPr/>
        </p:nvSpPr>
        <p:spPr>
          <a:xfrm>
            <a:off x="734200" y="2567186"/>
            <a:ext cx="5226515" cy="1817191"/>
          </a:xfrm>
          <a:prstGeom prst="roundRect">
            <a:avLst>
              <a:gd name="adj" fmla="val 9146"/>
            </a:avLst>
          </a:prstGeom>
          <a:solidFill>
            <a:srgbClr val="171528"/>
          </a:solidFill>
          <a:ln/>
        </p:spPr>
      </p:sp>
      <p:sp>
        <p:nvSpPr>
          <p:cNvPr id="10" name="Text 7"/>
          <p:cNvSpPr/>
          <p:nvPr/>
        </p:nvSpPr>
        <p:spPr>
          <a:xfrm>
            <a:off x="867150" y="2678043"/>
            <a:ext cx="4960615" cy="1595735"/>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PERSONAL FITNESS TRACKER — CO5</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Workout records saved successfully.</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Saved Workout History</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Running  — 30 minutes — 250 kcal</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Cycling  — 40 minutes — 320 kcal</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Walking  — 20 minutes — 100 kcal</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Records retrieved successfully.</a:t>
            </a:r>
            <a:endParaRPr lang="en-US" sz="850" dirty="0"/>
          </a:p>
        </p:txBody>
      </p:sp>
      <p:sp>
        <p:nvSpPr>
          <p:cNvPr id="11" name="Text 8"/>
          <p:cNvSpPr/>
          <p:nvPr/>
        </p:nvSpPr>
        <p:spPr>
          <a:xfrm>
            <a:off x="6237330" y="1323800"/>
            <a:ext cx="5226515" cy="153888"/>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Program: File-Based Workout History</a:t>
            </a:r>
            <a:endParaRPr lang="en-US" sz="950" dirty="0"/>
          </a:p>
        </p:txBody>
      </p:sp>
      <p:sp>
        <p:nvSpPr>
          <p:cNvPr id="12" name="Shape 9"/>
          <p:cNvSpPr/>
          <p:nvPr/>
        </p:nvSpPr>
        <p:spPr>
          <a:xfrm>
            <a:off x="6237330" y="1537494"/>
            <a:ext cx="5226515" cy="4654054"/>
          </a:xfrm>
          <a:prstGeom prst="roundRect">
            <a:avLst>
              <a:gd name="adj" fmla="val 3571"/>
            </a:avLst>
          </a:prstGeom>
          <a:solidFill>
            <a:srgbClr val="171528"/>
          </a:solidFill>
          <a:ln/>
        </p:spPr>
      </p:sp>
      <p:sp>
        <p:nvSpPr>
          <p:cNvPr id="13" name="Text 10"/>
          <p:cNvSpPr/>
          <p:nvPr/>
        </p:nvSpPr>
        <p:spPr>
          <a:xfrm>
            <a:off x="6370280" y="1648351"/>
            <a:ext cx="4960615" cy="4432598"/>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Save workouts</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try (PrintWriter writer = new PrintWriter(</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new FileWriter("workouts.txt")))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writer.println("Running,30,250");</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writer.println("Cycling,40,320");</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writer.println("Walking,20,100");</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System.out.println("Saved successfully");</a:t>
            </a:r>
            <a:endParaRPr lang="en-US" sz="850" dirty="0"/>
          </a:p>
          <a:p>
            <a:pPr algn="l" indent="0" marL="0">
              <a:lnSpc>
                <a:spcPct val="133000"/>
              </a:lnSpc>
              <a:buNone/>
            </a:pP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Load and display</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try (BufferedReader reader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new BufferedReader(</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new FileReader("workouts.txt")))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String line;</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while ((line = reader.readLine())</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 null)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String[] parts = line.split(",");</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System.out.println(</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parts[0] + " —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 parts[1] + " min —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 parts[2] + " kcal");</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System.out.println(</a:t>
            </a:r>
            <a:endParaRPr lang="en-US" sz="850" dirty="0"/>
          </a:p>
          <a:p>
            <a:pPr algn="l" indent="0" marL="0">
              <a:lnSpc>
                <a:spcPct val="133000"/>
              </a:lnSpc>
              <a:buNone/>
            </a:pPr>
            <a:r>
              <a:rPr lang="en-US" sz="850" dirty="0">
                <a:solidFill>
                  <a:srgbClr val="8B949E"/>
                </a:solidFill>
                <a:latin typeface="Consolas" pitchFamily="34" charset="0"/>
                <a:ea typeface="Consolas" pitchFamily="34" charset="-122"/>
                <a:cs typeface="Consolas" pitchFamily="34" charset="-120"/>
              </a:rPr>
              <a:t> "Retrieved successfully");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4200" y="616385"/>
            <a:ext cx="10723294" cy="301823"/>
          </a:xfrm>
          <a:prstGeom prst="rect">
            <a:avLst/>
          </a:prstGeom>
          <a:noFill/>
          <a:ln/>
        </p:spPr>
        <p:txBody>
          <a:bodyPr wrap="none" lIns="0" tIns="0" rIns="0" bIns="0" rtlCol="0" anchor="t"/>
          <a:lstStyle/>
          <a:p>
            <a:pPr algn="l" indent="0" marL="0">
              <a:lnSpc>
                <a:spcPct val="104000"/>
              </a:lnSpc>
              <a:buNone/>
            </a:pPr>
            <a:r>
              <a:rPr lang="en-US" sz="1900" b="1" dirty="0">
                <a:solidFill>
                  <a:srgbClr val="F0FCFF"/>
                </a:solidFill>
                <a:latin typeface="Spline Sans Bold" pitchFamily="34" charset="0"/>
                <a:ea typeface="Spline Sans Bold" pitchFamily="34" charset="-122"/>
                <a:cs typeface="Spline Sans Bold" pitchFamily="34" charset="-120"/>
              </a:rPr>
              <a:t>CO6 / Module 6: Collections, Functional Programming &amp; Streams</a:t>
            </a:r>
            <a:endParaRPr lang="en-US" sz="1900" dirty="0"/>
          </a:p>
        </p:txBody>
      </p:sp>
      <p:sp>
        <p:nvSpPr>
          <p:cNvPr id="3" name="Shape 1"/>
          <p:cNvSpPr/>
          <p:nvPr/>
        </p:nvSpPr>
        <p:spPr>
          <a:xfrm>
            <a:off x="734200" y="1017290"/>
            <a:ext cx="1393889" cy="165001"/>
          </a:xfrm>
          <a:prstGeom prst="roundRect">
            <a:avLst>
              <a:gd name="adj" fmla="val 49999"/>
            </a:avLst>
          </a:prstGeom>
          <a:solidFill>
            <a:srgbClr val="004D36"/>
          </a:solidFill>
          <a:ln/>
        </p:spPr>
      </p:sp>
      <p:pic>
        <p:nvPicPr>
          <p:cNvPr id="4" name="Image 0" descr="preencoded.png">    </p:cNvPr>
          <p:cNvPicPr>
            <a:picLocks noChangeAspect="1"/>
          </p:cNvPicPr>
          <p:nvPr/>
        </p:nvPicPr>
        <p:blipFill>
          <a:blip r:embed="rId1"/>
          <a:stretch>
            <a:fillRect/>
          </a:stretch>
        </p:blipFill>
        <p:spPr>
          <a:xfrm>
            <a:off x="799385" y="1056283"/>
            <a:ext cx="86913" cy="86916"/>
          </a:xfrm>
          <a:prstGeom prst="rect">
            <a:avLst/>
          </a:prstGeom>
        </p:spPr>
      </p:pic>
      <p:sp>
        <p:nvSpPr>
          <p:cNvPr id="5" name="Text 2"/>
          <p:cNvSpPr/>
          <p:nvPr/>
        </p:nvSpPr>
        <p:spPr>
          <a:xfrm>
            <a:off x="929756" y="1053180"/>
            <a:ext cx="1742734" cy="99913"/>
          </a:xfrm>
          <a:prstGeom prst="rect">
            <a:avLst/>
          </a:prstGeom>
          <a:noFill/>
          <a:ln/>
        </p:spPr>
        <p:txBody>
          <a:bodyPr wrap="none" lIns="0" tIns="0" rIns="0" bIns="0" rtlCol="0" anchor="t"/>
          <a:lstStyle/>
          <a:p>
            <a:pPr algn="l" indent="0" marL="0">
              <a:lnSpc>
                <a:spcPct val="96000"/>
              </a:lnSpc>
              <a:buNone/>
            </a:pPr>
            <a:r>
              <a:rPr lang="en-US" sz="650" dirty="0">
                <a:solidFill>
                  <a:srgbClr val="E0E4E6"/>
                </a:solidFill>
                <a:latin typeface="Barlow" pitchFamily="34" charset="0"/>
                <a:ea typeface="Barlow" pitchFamily="34" charset="-122"/>
                <a:cs typeface="Barlow" pitchFamily="34" charset="-120"/>
              </a:rPr>
              <a:t>SMART WORKOUT ANALYTICS</a:t>
            </a:r>
            <a:endParaRPr lang="en-US" sz="650" dirty="0"/>
          </a:p>
        </p:txBody>
      </p:sp>
      <p:sp>
        <p:nvSpPr>
          <p:cNvPr id="6" name="Text 3"/>
          <p:cNvSpPr/>
          <p:nvPr/>
        </p:nvSpPr>
        <p:spPr>
          <a:xfrm>
            <a:off x="734200" y="1538654"/>
            <a:ext cx="3580814" cy="150912"/>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Program: Stream-Based Workout Analytics</a:t>
            </a:r>
            <a:endParaRPr lang="en-US" sz="950" dirty="0"/>
          </a:p>
        </p:txBody>
      </p:sp>
      <p:sp>
        <p:nvSpPr>
          <p:cNvPr id="7" name="Shape 4"/>
          <p:cNvSpPr/>
          <p:nvPr/>
        </p:nvSpPr>
        <p:spPr>
          <a:xfrm>
            <a:off x="734200" y="1746151"/>
            <a:ext cx="3580814" cy="4215408"/>
          </a:xfrm>
          <a:prstGeom prst="roundRect">
            <a:avLst>
              <a:gd name="adj" fmla="val 4552"/>
            </a:avLst>
          </a:prstGeom>
          <a:solidFill>
            <a:srgbClr val="171528"/>
          </a:solidFill>
          <a:ln/>
        </p:spPr>
      </p:sp>
      <p:sp>
        <p:nvSpPr>
          <p:cNvPr id="8" name="Text 5"/>
          <p:cNvSpPr/>
          <p:nvPr/>
        </p:nvSpPr>
        <p:spPr>
          <a:xfrm>
            <a:off x="864571" y="1854795"/>
            <a:ext cx="3320074" cy="3998119"/>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List&lt;Workout&gt; workouts = new ArrayList&lt;&gt;();</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workouts.add(new Workout("Running",30,250));</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workouts.add(new Workout("Cycling",40,320));</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workouts.add(new Workout("Walking",20,100));</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Filter workouts &gt;= 30 minutes</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List&lt;Workout&gt; filtered = workouts.stream()</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.filter(w -&gt; w.getDuration() &gt;= 30)</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.collect(Collectors.toList());</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System.out.println("Workouts &gt;= 30 min:");</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filtered.forEach(System.out::println);</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Calculate totals</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int totalCal = filtered.stream()</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.mapToInt(Workout::getCaloriesBurned)</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.sum();</a:t>
            </a:r>
            <a:endParaRPr lang="en-US" sz="850" dirty="0"/>
          </a:p>
          <a:p>
            <a:pPr algn="l" indent="0" marL="0">
              <a:lnSpc>
                <a:spcPct val="133000"/>
              </a:lnSpc>
              <a:buNone/>
            </a:pP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System.out.println(</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"Count: " + filtered.size());</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System.out.println(</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"Total Calories: " + totalCal</a:t>
            </a:r>
            <a:endParaRPr lang="en-US" sz="850" dirty="0"/>
          </a:p>
          <a:p>
            <a:pPr algn="l" indent="0" marL="0">
              <a:lnSpc>
                <a:spcPct val="133000"/>
              </a:lnSpc>
              <a:buNone/>
            </a:pPr>
            <a:r>
              <a:rPr lang="en-US" sz="850" dirty="0">
                <a:solidFill>
                  <a:srgbClr val="E6EDF3"/>
                </a:solidFill>
                <a:latin typeface="Consolas" pitchFamily="34" charset="0"/>
                <a:ea typeface="Consolas" pitchFamily="34" charset="-122"/>
                <a:cs typeface="Consolas" pitchFamily="34" charset="-120"/>
              </a:rPr>
              <a:t>    + " kcal");</a:t>
            </a:r>
            <a:endParaRPr lang="en-US" sz="850" dirty="0"/>
          </a:p>
        </p:txBody>
      </p:sp>
      <p:sp>
        <p:nvSpPr>
          <p:cNvPr id="9" name="Text 6"/>
          <p:cNvSpPr/>
          <p:nvPr/>
        </p:nvSpPr>
        <p:spPr>
          <a:xfrm>
            <a:off x="4586470" y="1308566"/>
            <a:ext cx="6877275" cy="150912"/>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Key Concepts</a:t>
            </a:r>
            <a:endParaRPr lang="en-US" sz="950" dirty="0"/>
          </a:p>
        </p:txBody>
      </p:sp>
      <p:sp>
        <p:nvSpPr>
          <p:cNvPr id="10" name="Text 7"/>
          <p:cNvSpPr/>
          <p:nvPr/>
        </p:nvSpPr>
        <p:spPr>
          <a:xfrm>
            <a:off x="4586470" y="1509018"/>
            <a:ext cx="6877275" cy="605433"/>
          </a:xfrm>
          <a:prstGeom prst="rect">
            <a:avLst/>
          </a:prstGeom>
          <a:noFill/>
          <a:ln/>
        </p:spPr>
        <p:txBody>
          <a:bodyPr wrap="square" lIns="0" tIns="0" rIns="0" bIns="0" rtlCol="0" anchor="t">
            <a:normAutofit/>
          </a:bodyPr>
          <a:lstStyle/>
          <a:p>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ArrayList</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HashMap</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HashSet</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and generics</a:t>
            </a:r>
            <a:endParaRPr lang="en-US" sz="850" dirty="0"/>
          </a:p>
          <a:p>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Lambda expressions and functional interfaces</a:t>
            </a:r>
            <a:endParaRPr lang="en-US" sz="850" dirty="0"/>
          </a:p>
          <a:p>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Predicate</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Function</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Consumer</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Comparator</a:t>
            </a:r>
            <a:endParaRPr lang="en-US" sz="850" dirty="0"/>
          </a:p>
          <a:p>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Stream operations: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filter</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map</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sorted</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count</a:t>
            </a:r>
            <a:pPr algn="l" marL="172720" indent="-172720">
              <a:lnSpc>
                <a:spcPct val="101000"/>
              </a:lnSpc>
              <a:buSzPct val="100000"/>
              <a:buChar char="•"/>
            </a:pPr>
            <a:r>
              <a:rPr lang="en-US" sz="850" dirty="0">
                <a:solidFill>
                  <a:srgbClr val="E0E4E6"/>
                </a:solidFill>
                <a:latin typeface="Barlow" pitchFamily="34" charset="0"/>
                <a:ea typeface="Barlow" pitchFamily="34" charset="-122"/>
                <a:cs typeface="Barlow" pitchFamily="34" charset="-120"/>
              </a:rPr>
              <a:t>, </a:t>
            </a:r>
            <a:pPr algn="l" marL="172720" indent="-172720">
              <a:lnSpc>
                <a:spcPct val="101000"/>
              </a:lnSpc>
              <a:buSzPct val="100000"/>
              <a:buChar char="•"/>
            </a:pPr>
            <a:r>
              <a:rPr lang="en-US" sz="850" dirty="0">
                <a:solidFill>
                  <a:srgbClr val="E0E4E6"/>
                </a:solidFill>
                <a:highlight>
                  <a:srgbClr val="171528"/>
                </a:highlight>
                <a:latin typeface="Consolas" pitchFamily="34" charset="0"/>
                <a:ea typeface="Consolas" pitchFamily="34" charset="-122"/>
                <a:cs typeface="Consolas" pitchFamily="34" charset="-120"/>
              </a:rPr>
              <a:t>collect</a:t>
            </a:r>
            <a:endParaRPr lang="en-US" sz="850" dirty="0"/>
          </a:p>
        </p:txBody>
      </p:sp>
      <p:sp>
        <p:nvSpPr>
          <p:cNvPr id="11" name="Text 8"/>
          <p:cNvSpPr/>
          <p:nvPr/>
        </p:nvSpPr>
        <p:spPr>
          <a:xfrm>
            <a:off x="4586470" y="2177424"/>
            <a:ext cx="6877275" cy="150912"/>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Stream Pipeline</a:t>
            </a:r>
            <a:endParaRPr lang="en-US" sz="950" dirty="0"/>
          </a:p>
        </p:txBody>
      </p:sp>
      <p:pic>
        <p:nvPicPr>
          <p:cNvPr id="12" name="Image 1" descr="preencoded.png">    </p:cNvPr>
          <p:cNvPicPr>
            <a:picLocks noChangeAspect="1"/>
          </p:cNvPicPr>
          <p:nvPr/>
        </p:nvPicPr>
        <p:blipFill>
          <a:blip r:embed="rId2"/>
          <a:stretch>
            <a:fillRect/>
          </a:stretch>
        </p:blipFill>
        <p:spPr>
          <a:xfrm>
            <a:off x="5789964" y="2384921"/>
            <a:ext cx="4470189" cy="2442766"/>
          </a:xfrm>
          <a:prstGeom prst="rect">
            <a:avLst/>
          </a:prstGeom>
        </p:spPr>
      </p:pic>
      <p:sp>
        <p:nvSpPr>
          <p:cNvPr id="13" name="Text 9"/>
          <p:cNvSpPr/>
          <p:nvPr/>
        </p:nvSpPr>
        <p:spPr>
          <a:xfrm>
            <a:off x="6396253" y="3537331"/>
            <a:ext cx="1002120" cy="125268"/>
          </a:xfrm>
          <a:prstGeom prst="rect">
            <a:avLst/>
          </a:prstGeom>
          <a:noFill/>
          <a:ln/>
        </p:spPr>
        <p:txBody>
          <a:bodyPr wrap="none" lIns="0" tIns="0" rIns="0" bIns="0" rtlCol="0" anchor="t"/>
          <a:lstStyle/>
          <a:p>
            <a:pPr algn="ctr" indent="0" marL="0">
              <a:lnSpc>
                <a:spcPct val="104000"/>
              </a:lnSpc>
              <a:buNone/>
            </a:pPr>
            <a:r>
              <a:rPr lang="en-US" sz="750" b="1" dirty="0">
                <a:solidFill>
                  <a:srgbClr val="F0FCFF"/>
                </a:solidFill>
                <a:latin typeface="Spline Sans Bold" pitchFamily="34" charset="0"/>
                <a:ea typeface="Spline Sans Bold" pitchFamily="34" charset="-122"/>
                <a:cs typeface="Spline Sans Bold" pitchFamily="34" charset="-120"/>
              </a:rPr>
              <a:t>List Input</a:t>
            </a:r>
            <a:endParaRPr lang="en-US" sz="750" dirty="0"/>
          </a:p>
        </p:txBody>
      </p:sp>
      <p:sp>
        <p:nvSpPr>
          <p:cNvPr id="14" name="Text 10"/>
          <p:cNvSpPr/>
          <p:nvPr/>
        </p:nvSpPr>
        <p:spPr>
          <a:xfrm>
            <a:off x="9011786" y="3521438"/>
            <a:ext cx="1002120" cy="125268"/>
          </a:xfrm>
          <a:prstGeom prst="rect">
            <a:avLst/>
          </a:prstGeom>
          <a:noFill/>
          <a:ln/>
        </p:spPr>
        <p:txBody>
          <a:bodyPr wrap="none" lIns="0" tIns="0" rIns="0" bIns="0" rtlCol="0" anchor="t"/>
          <a:lstStyle/>
          <a:p>
            <a:pPr algn="ctr" indent="0" marL="0">
              <a:lnSpc>
                <a:spcPct val="104000"/>
              </a:lnSpc>
              <a:buNone/>
            </a:pPr>
            <a:r>
              <a:rPr lang="en-US" sz="750" b="1" dirty="0">
                <a:solidFill>
                  <a:srgbClr val="F0FCFF"/>
                </a:solidFill>
                <a:latin typeface="Spline Sans Bold" pitchFamily="34" charset="0"/>
                <a:ea typeface="Spline Sans Bold" pitchFamily="34" charset="-122"/>
                <a:cs typeface="Spline Sans Bold" pitchFamily="34" charset="-120"/>
              </a:rPr>
              <a:t>Filter ≥30</a:t>
            </a:r>
            <a:endParaRPr lang="en-US" sz="750" dirty="0"/>
          </a:p>
        </p:txBody>
      </p:sp>
      <p:sp>
        <p:nvSpPr>
          <p:cNvPr id="15" name="Text 11"/>
          <p:cNvSpPr/>
          <p:nvPr/>
        </p:nvSpPr>
        <p:spPr>
          <a:xfrm>
            <a:off x="7728838" y="3526527"/>
            <a:ext cx="1012532" cy="125268"/>
          </a:xfrm>
          <a:prstGeom prst="rect">
            <a:avLst/>
          </a:prstGeom>
          <a:noFill/>
          <a:ln/>
        </p:spPr>
        <p:txBody>
          <a:bodyPr wrap="none" lIns="0" tIns="0" rIns="0" bIns="0" rtlCol="0" anchor="t"/>
          <a:lstStyle/>
          <a:p>
            <a:pPr algn="ctr" indent="0" marL="0">
              <a:lnSpc>
                <a:spcPct val="104000"/>
              </a:lnSpc>
              <a:buNone/>
            </a:pPr>
            <a:r>
              <a:rPr lang="en-US" sz="750" b="1" dirty="0">
                <a:solidFill>
                  <a:srgbClr val="F0FCFF"/>
                </a:solidFill>
                <a:latin typeface="Spline Sans Bold" pitchFamily="34" charset="0"/>
                <a:ea typeface="Spline Sans Bold" pitchFamily="34" charset="-122"/>
                <a:cs typeface="Spline Sans Bold" pitchFamily="34" charset="-120"/>
              </a:rPr>
              <a:t>Count:2 Sum:570 kcal</a:t>
            </a:r>
            <a:endParaRPr lang="en-US" sz="750" dirty="0"/>
          </a:p>
        </p:txBody>
      </p:sp>
      <p:sp>
        <p:nvSpPr>
          <p:cNvPr id="16" name="Text 12"/>
          <p:cNvSpPr/>
          <p:nvPr/>
        </p:nvSpPr>
        <p:spPr>
          <a:xfrm>
            <a:off x="4586470" y="4897705"/>
            <a:ext cx="6877275" cy="150912"/>
          </a:xfrm>
          <a:prstGeom prst="rect">
            <a:avLst/>
          </a:prstGeom>
          <a:noFill/>
          <a:ln/>
        </p:spPr>
        <p:txBody>
          <a:bodyPr wrap="none" lIns="0" tIns="0" rIns="0" bIns="0" rtlCol="0" anchor="t"/>
          <a:lstStyle/>
          <a:p>
            <a:pPr algn="l" indent="0" marL="0">
              <a:lnSpc>
                <a:spcPct val="104000"/>
              </a:lnSpc>
              <a:buNone/>
            </a:pPr>
            <a:r>
              <a:rPr lang="en-US" sz="950" b="1" dirty="0">
                <a:solidFill>
                  <a:srgbClr val="F0FCFF"/>
                </a:solidFill>
                <a:latin typeface="Spline Sans Bold" pitchFamily="34" charset="0"/>
                <a:ea typeface="Spline Sans Bold" pitchFamily="34" charset="-122"/>
                <a:cs typeface="Spline Sans Bold" pitchFamily="34" charset="-120"/>
              </a:rPr>
              <a:t>Sample Output</a:t>
            </a:r>
            <a:endParaRPr lang="en-US" sz="950" dirty="0"/>
          </a:p>
        </p:txBody>
      </p:sp>
      <p:sp>
        <p:nvSpPr>
          <p:cNvPr id="17" name="Shape 13"/>
          <p:cNvSpPr/>
          <p:nvPr/>
        </p:nvSpPr>
        <p:spPr>
          <a:xfrm>
            <a:off x="4586470" y="5105202"/>
            <a:ext cx="6877275" cy="1086445"/>
          </a:xfrm>
          <a:prstGeom prst="roundRect">
            <a:avLst>
              <a:gd name="adj" fmla="val 15003"/>
            </a:avLst>
          </a:prstGeom>
          <a:solidFill>
            <a:srgbClr val="171528"/>
          </a:solidFill>
          <a:ln/>
        </p:spPr>
      </p:sp>
      <p:sp>
        <p:nvSpPr>
          <p:cNvPr id="18" name="Text 14"/>
          <p:cNvSpPr/>
          <p:nvPr/>
        </p:nvSpPr>
        <p:spPr>
          <a:xfrm>
            <a:off x="4716841" y="5213846"/>
            <a:ext cx="6616534" cy="869156"/>
          </a:xfrm>
          <a:prstGeom prst="rect">
            <a:avLst/>
          </a:prstGeom>
          <a:noFill/>
          <a:ln/>
        </p:spPr>
        <p:txBody>
          <a:bodyPr wrap="square" lIns="0" tIns="0" rIns="0" bIns="0" rtlCol="0" anchor="t">
            <a:normAutofit/>
          </a:bodyPr>
          <a:lstStyle/>
          <a:p>
            <a:pPr algn="l" indent="0" marL="0">
              <a:lnSpc>
                <a:spcPct val="133000"/>
              </a:lnSpc>
              <a:buNone/>
            </a:pPr>
            <a:r>
              <a:rPr lang="en-US" sz="850" dirty="0">
                <a:solidFill>
                  <a:srgbClr val="79C0FF"/>
                </a:solidFill>
                <a:latin typeface="Consolas" pitchFamily="34" charset="0"/>
                <a:ea typeface="Consolas" pitchFamily="34" charset="-122"/>
                <a:cs typeface="Consolas" pitchFamily="34" charset="-120"/>
              </a:rPr>
              <a:t>Workouts lasting at least 30 minutes:</a:t>
            </a:r>
            <a:endParaRPr lang="en-US" sz="850" dirty="0"/>
          </a:p>
          <a:p>
            <a:pPr algn="l" indent="0" marL="0">
              <a:lnSpc>
                <a:spcPct val="133000"/>
              </a:lnSpc>
              <a:buNone/>
            </a:pPr>
            <a:r>
              <a:rPr lang="en-US" sz="850" dirty="0">
                <a:solidFill>
                  <a:srgbClr val="79C0FF"/>
                </a:solidFill>
                <a:latin typeface="Consolas" pitchFamily="34" charset="0"/>
                <a:ea typeface="Consolas" pitchFamily="34" charset="-122"/>
                <a:cs typeface="Consolas" pitchFamily="34" charset="-120"/>
              </a:rPr>
              <a:t>Running — 30 min — 250 kcal</a:t>
            </a:r>
            <a:endParaRPr lang="en-US" sz="850" dirty="0"/>
          </a:p>
          <a:p>
            <a:pPr algn="l" indent="0" marL="0">
              <a:lnSpc>
                <a:spcPct val="133000"/>
              </a:lnSpc>
              <a:buNone/>
            </a:pPr>
            <a:r>
              <a:rPr lang="en-US" sz="850" dirty="0">
                <a:solidFill>
                  <a:srgbClr val="79C0FF"/>
                </a:solidFill>
                <a:latin typeface="Consolas" pitchFamily="34" charset="0"/>
                <a:ea typeface="Consolas" pitchFamily="34" charset="-122"/>
                <a:cs typeface="Consolas" pitchFamily="34" charset="-120"/>
              </a:rPr>
              <a:t>Cycling — 40 min — 320 kcal</a:t>
            </a:r>
            <a:endParaRPr lang="en-US" sz="850" dirty="0"/>
          </a:p>
          <a:p>
            <a:pPr algn="l" indent="0" marL="0">
              <a:lnSpc>
                <a:spcPct val="133000"/>
              </a:lnSpc>
              <a:buNone/>
            </a:pPr>
            <a:r>
              <a:rPr lang="en-US" sz="850" dirty="0">
                <a:solidFill>
                  <a:srgbClr val="79C0FF"/>
                </a:solidFill>
                <a:latin typeface="Consolas" pitchFamily="34" charset="0"/>
                <a:ea typeface="Consolas" pitchFamily="34" charset="-122"/>
                <a:cs typeface="Consolas" pitchFamily="34" charset="-120"/>
              </a:rPr>
              <a:t>Qualifying Workouts: 2</a:t>
            </a:r>
            <a:endParaRPr lang="en-US" sz="850" dirty="0"/>
          </a:p>
          <a:p>
            <a:pPr algn="l" indent="0" marL="0">
              <a:lnSpc>
                <a:spcPct val="133000"/>
              </a:lnSpc>
              <a:buNone/>
            </a:pPr>
            <a:r>
              <a:rPr lang="en-US" sz="850" dirty="0">
                <a:solidFill>
                  <a:srgbClr val="79C0FF"/>
                </a:solidFill>
                <a:latin typeface="Consolas" pitchFamily="34" charset="0"/>
                <a:ea typeface="Consolas" pitchFamily="34" charset="-122"/>
                <a:cs typeface="Consolas" pitchFamily="34" charset="-120"/>
              </a:rPr>
              <a:t>Total Calories: 570 kcal</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4200" y="585922"/>
            <a:ext cx="10723294" cy="230783"/>
          </a:xfrm>
          <a:prstGeom prst="rect">
            <a:avLst/>
          </a:prstGeom>
          <a:noFill/>
          <a:ln/>
        </p:spPr>
        <p:txBody>
          <a:bodyPr wrap="none" lIns="0" tIns="0" rIns="0" bIns="0" rtlCol="0" anchor="t"/>
          <a:lstStyle/>
          <a:p>
            <a:pPr algn="l" indent="0" marL="0">
              <a:lnSpc>
                <a:spcPct val="104000"/>
              </a:lnSpc>
              <a:buNone/>
            </a:pPr>
            <a:r>
              <a:rPr lang="en-US" sz="1450" b="1" dirty="0">
                <a:solidFill>
                  <a:srgbClr val="F0FCFF"/>
                </a:solidFill>
                <a:latin typeface="Spline Sans Bold" pitchFamily="34" charset="0"/>
                <a:ea typeface="Spline Sans Bold" pitchFamily="34" charset="-122"/>
                <a:cs typeface="Spline Sans Bold" pitchFamily="34" charset="-120"/>
              </a:rPr>
              <a:t>Final Integrated Project: Complete Personal Fitness &amp; Workout Tracker</a:t>
            </a:r>
            <a:endParaRPr lang="en-US" sz="1450" dirty="0"/>
          </a:p>
        </p:txBody>
      </p:sp>
      <p:sp>
        <p:nvSpPr>
          <p:cNvPr id="3" name="Shape 1"/>
          <p:cNvSpPr/>
          <p:nvPr/>
        </p:nvSpPr>
        <p:spPr>
          <a:xfrm>
            <a:off x="734200" y="894060"/>
            <a:ext cx="5260347" cy="5351264"/>
          </a:xfrm>
          <a:prstGeom prst="roundRect">
            <a:avLst>
              <a:gd name="adj" fmla="val 2370"/>
            </a:avLst>
          </a:prstGeom>
          <a:solidFill>
            <a:srgbClr val="171528"/>
          </a:solidFill>
          <a:ln/>
        </p:spPr>
      </p:sp>
      <p:sp>
        <p:nvSpPr>
          <p:cNvPr id="4" name="Text 2"/>
          <p:cNvSpPr/>
          <p:nvPr/>
        </p:nvSpPr>
        <p:spPr>
          <a:xfrm>
            <a:off x="833913" y="977106"/>
            <a:ext cx="5060923" cy="5185172"/>
          </a:xfrm>
          <a:prstGeom prst="rect">
            <a:avLst/>
          </a:prstGeom>
          <a:noFill/>
          <a:ln/>
        </p:spPr>
        <p:txBody>
          <a:bodyPr wrap="square" lIns="0" tIns="0" rIns="0" bIns="0" rtlCol="0" anchor="t">
            <a:normAutofit/>
          </a:bodyPr>
          <a:lstStyle/>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import java.io.*;</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import java.util.*;</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CO4: class with private fields, constructor, getters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class Workout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private String name;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private int duration;</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private int calories;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public Workout(String name, int duration, int calories)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this.name = name; this.duration = duration; this.calories = calories;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public String getName() { return name;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public int getDuration() { return duration;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public int getCalories() { return calories;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public class PersonalFitnessTracker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CO6: ArrayList of objects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ArrayList workouts = new ArrayList&lt;&gt;();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CO1: Scanner for input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Scanner scanner = new Scanner(System.in);</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CO2: menu loop with switch</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public static void main(String[] args)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int choice;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do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System.out.println("1. Add  2. View  3. Total duration  4. Save  0. Exit");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choice = scanner.nextInt();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scanner.nextLine();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switch (choice)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case 1: addWorkout(); break;</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case 2: viewAll(); break;</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case 3: System.out.println("Total: " + totalDuration() + " min"); break;</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case 4: saveWorkouts(); break;</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case 0: System.out.println("Goodbye!"); break;</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default: System.out.println("Invalid choice.");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while (choice != 0);</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p:txBody>
      </p:sp>
      <p:sp>
        <p:nvSpPr>
          <p:cNvPr id="5" name="Shape 3"/>
          <p:cNvSpPr/>
          <p:nvPr/>
        </p:nvSpPr>
        <p:spPr>
          <a:xfrm>
            <a:off x="6203497" y="894060"/>
            <a:ext cx="5260347" cy="4553545"/>
          </a:xfrm>
          <a:prstGeom prst="roundRect">
            <a:avLst>
              <a:gd name="adj" fmla="val 2737"/>
            </a:avLst>
          </a:prstGeom>
          <a:solidFill>
            <a:srgbClr val="171528"/>
          </a:solidFill>
          <a:ln/>
        </p:spPr>
      </p:sp>
      <p:sp>
        <p:nvSpPr>
          <p:cNvPr id="6" name="Text 4"/>
          <p:cNvSpPr/>
          <p:nvPr/>
        </p:nvSpPr>
        <p:spPr>
          <a:xfrm>
            <a:off x="6303209" y="977106"/>
            <a:ext cx="5060923" cy="4387453"/>
          </a:xfrm>
          <a:prstGeom prst="rect">
            <a:avLst/>
          </a:prstGeom>
          <a:noFill/>
          <a:ln/>
        </p:spPr>
        <p:txBody>
          <a:bodyPr wrap="square" lIns="0" tIns="0" rIns="0" bIns="0" rtlCol="0" anchor="t">
            <a:normAutofit/>
          </a:bodyPr>
          <a:lstStyle/>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CO3: small static methods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void addWorkout()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System.out.print("Exercise: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String name = scanner.nextLine();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System.out.print("Minutes: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int duration = scanner.nextInt();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System.out.print("Calories: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int calories = scanner.nextInt();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scanner.nextLine();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workouts.add(new Workout(name, duration, calories));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void viewAll()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for (Workout w : workouts)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System.out.println(w.getName() + " - " + w.getDuration() + " min - " + w.getCalories() + " kcal");</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CO6: one stream for totals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int totalDuration()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return workouts.stream().mapToInt(Workout::getDuration).sum();</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CO5: PrintWriter for saving</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static void saveWorkouts()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try (PrintWriter writer = new PrintWriter("workouts.txt"))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for (Workout w : workouts)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writer.println(w.getName() + "," + w.getDuration() + "," + w.getCalories());</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System.out.println("Saved to workouts.txt");</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 catch (IOException e)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System.out.println("Error: " + e.getMessage());</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    }</a:t>
            </a:r>
            <a:endParaRPr lang="en-US" sz="650" dirty="0"/>
          </a:p>
          <a:p>
            <a:pPr algn="l" indent="0" marL="0">
              <a:lnSpc>
                <a:spcPct val="133000"/>
              </a:lnSpc>
              <a:buNone/>
            </a:pPr>
            <a:r>
              <a:rPr lang="en-US" sz="650" dirty="0">
                <a:solidFill>
                  <a:srgbClr val="E6EDF3"/>
                </a:solidFill>
                <a:latin typeface="Consolas" pitchFamily="34" charset="0"/>
                <a:ea typeface="Consolas" pitchFamily="34" charset="-122"/>
                <a:cs typeface="Consolas" pitchFamily="34" charset="-120"/>
              </a:rPr>
              <a:t>}</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4200" y="644083"/>
            <a:ext cx="10723294" cy="582712"/>
          </a:xfrm>
          <a:prstGeom prst="rect">
            <a:avLst/>
          </a:prstGeom>
          <a:noFill/>
          <a:ln/>
        </p:spPr>
        <p:txBody>
          <a:bodyPr wrap="none" lIns="0" tIns="0" rIns="0" bIns="0" rtlCol="0" anchor="t"/>
          <a:lstStyle/>
          <a:p>
            <a:pPr algn="l" indent="0" marL="0">
              <a:lnSpc>
                <a:spcPct val="104000"/>
              </a:lnSpc>
              <a:buNone/>
            </a:pPr>
            <a:r>
              <a:rPr lang="en-US" sz="3650" b="1" dirty="0">
                <a:solidFill>
                  <a:srgbClr val="F0FCFF"/>
                </a:solidFill>
                <a:latin typeface="Spline Sans Bold" pitchFamily="34" charset="0"/>
                <a:ea typeface="Spline Sans Bold" pitchFamily="34" charset="-122"/>
                <a:cs typeface="Spline Sans Bold" pitchFamily="34" charset="-120"/>
              </a:rPr>
              <a:t>Integrated Output, Conclusion</a:t>
            </a:r>
            <a:endParaRPr lang="en-US" sz="3650" dirty="0"/>
          </a:p>
        </p:txBody>
      </p:sp>
      <p:sp>
        <p:nvSpPr>
          <p:cNvPr id="3" name="Text 1"/>
          <p:cNvSpPr/>
          <p:nvPr/>
        </p:nvSpPr>
        <p:spPr>
          <a:xfrm>
            <a:off x="734200" y="1294584"/>
            <a:ext cx="10723294"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Program Output</a:t>
            </a:r>
            <a:endParaRPr lang="en-US" sz="1800" dirty="0"/>
          </a:p>
        </p:txBody>
      </p:sp>
      <p:sp>
        <p:nvSpPr>
          <p:cNvPr id="4" name="Shape 2"/>
          <p:cNvSpPr/>
          <p:nvPr/>
        </p:nvSpPr>
        <p:spPr>
          <a:xfrm>
            <a:off x="734200" y="1890911"/>
            <a:ext cx="10723294" cy="3777059"/>
          </a:xfrm>
          <a:prstGeom prst="roundRect">
            <a:avLst>
              <a:gd name="adj" fmla="val 8332"/>
            </a:avLst>
          </a:prstGeom>
          <a:solidFill>
            <a:srgbClr val="171528"/>
          </a:solidFill>
          <a:ln/>
        </p:spPr>
      </p:sp>
      <p:sp>
        <p:nvSpPr>
          <p:cNvPr id="5" name="Text 3"/>
          <p:cNvSpPr/>
          <p:nvPr/>
        </p:nvSpPr>
        <p:spPr>
          <a:xfrm>
            <a:off x="985912" y="2100659"/>
            <a:ext cx="10219871" cy="3357563"/>
          </a:xfrm>
          <a:prstGeom prst="rect">
            <a:avLst/>
          </a:prstGeom>
          <a:noFill/>
          <a:ln/>
        </p:spPr>
        <p:txBody>
          <a:bodyPr wrap="square" lIns="0" tIns="0" rIns="0" bIns="0" rtlCol="0" anchor="t">
            <a:normAutofit/>
          </a:bodyPr>
          <a:lstStyle/>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1. Add  2. View  3. Total duration  4. Save  0. Exit</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Choose: 2</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Running - 30 min - 250 kcal</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Cycling - 40 min - 320 kcal</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Choose: 3</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Total: 70 min</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Choose: 4</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Saved to workouts.txt</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Choose: 0</a:t>
            </a:r>
            <a:endParaRPr lang="en-US" sz="1650" dirty="0"/>
          </a:p>
          <a:p>
            <a:pPr algn="l" indent="0" marL="0">
              <a:lnSpc>
                <a:spcPct val="133000"/>
              </a:lnSpc>
              <a:buNone/>
            </a:pPr>
            <a:r>
              <a:rPr lang="en-US" sz="1650" dirty="0">
                <a:solidFill>
                  <a:srgbClr val="E6EDF3"/>
                </a:solidFill>
                <a:latin typeface="Consolas" pitchFamily="34" charset="0"/>
                <a:ea typeface="Consolas" pitchFamily="34" charset="-122"/>
                <a:cs typeface="Consolas" pitchFamily="34" charset="-120"/>
              </a:rPr>
              <a:t>Goodbye!</a:t>
            </a:r>
            <a:endParaRPr lang="en-US" sz="1650" dirty="0"/>
          </a:p>
        </p:txBody>
      </p:sp>
      <p:sp>
        <p:nvSpPr>
          <p:cNvPr id="6" name="Text 4"/>
          <p:cNvSpPr/>
          <p:nvPr/>
        </p:nvSpPr>
        <p:spPr>
          <a:xfrm>
            <a:off x="734200" y="5903913"/>
            <a:ext cx="11332879" cy="335756"/>
          </a:xfrm>
          <a:prstGeom prst="rect">
            <a:avLst/>
          </a:prstGeom>
          <a:noFill/>
          <a:ln/>
        </p:spPr>
        <p:txBody>
          <a:bodyPr wrap="none" lIns="0" tIns="0" rIns="0" bIns="0" rtlCol="0" anchor="t"/>
          <a:lstStyle/>
          <a:p>
            <a:pPr algn="l" indent="0" marL="0">
              <a:lnSpc>
                <a:spcPct val="133000"/>
              </a:lnSpc>
              <a:buNone/>
            </a:pPr>
            <a:r>
              <a:rPr lang="en-US" sz="1650" dirty="0">
                <a:solidFill>
                  <a:srgbClr val="E0E4E6"/>
                </a:solidFill>
                <a:latin typeface="Barlow" pitchFamily="34" charset="0"/>
                <a:ea typeface="Barlow" pitchFamily="34" charset="-122"/>
                <a:cs typeface="Barlow" pitchFamily="34" charset="-120"/>
              </a:rPr>
              <a:t>                        </a:t>
            </a:r>
            <a:pPr algn="l" indent="0" marL="0">
              <a:lnSpc>
                <a:spcPct val="133000"/>
              </a:lnSpc>
              <a:buNone/>
            </a:pPr>
            <a:r>
              <a:rPr lang="en-US" sz="1650" b="1" u="sng" dirty="0">
                <a:solidFill>
                  <a:srgbClr val="16FFBB"/>
                </a:solidFill>
                <a:latin typeface="Barlow Bold" pitchFamily="34" charset="0"/>
                <a:ea typeface="Barlow Bold" pitchFamily="34" charset="-122"/>
                <a:cs typeface="Barlow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https://github.com/kosuriraghavendravarma/PSTJ-Expo-1.git</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4200" y="2625689"/>
            <a:ext cx="10723294" cy="1748334"/>
          </a:xfrm>
          <a:prstGeom prst="rect">
            <a:avLst/>
          </a:prstGeom>
          <a:noFill/>
          <a:ln/>
        </p:spPr>
        <p:txBody>
          <a:bodyPr wrap="none" lIns="0" tIns="0" rIns="0" bIns="0" rtlCol="0" anchor="t"/>
          <a:lstStyle/>
          <a:p>
            <a:pPr algn="ctr" indent="0" marL="0">
              <a:lnSpc>
                <a:spcPct val="104000"/>
              </a:lnSpc>
              <a:buNone/>
            </a:pPr>
            <a:r>
              <a:rPr lang="en-US" sz="11000" b="1" dirty="0">
                <a:solidFill>
                  <a:srgbClr val="00FF00"/>
                </a:solidFill>
                <a:latin typeface="Spline Sans Bold" pitchFamily="34" charset="0"/>
                <a:ea typeface="Spline Sans Bold" pitchFamily="34" charset="-122"/>
                <a:cs typeface="Spline Sans Bold" pitchFamily="34" charset="-120"/>
              </a:rPr>
              <a:t>THANK YOU</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6FFBB"/>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2026-10-16T04:25:20Z</dcterms:created>
  <dcterms:modified xsi:type="dcterms:W3CDTF">2026-10-16T04:25:20Z</dcterms:modified>
</cp:coreProperties>
</file>